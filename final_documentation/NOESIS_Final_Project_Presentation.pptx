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640" r:id="rId2"/>
    <p:sldId id="3642" r:id="rId10"/>
    <p:sldId id="3643" r:id="rId11"/>
    <p:sldId id="3644" r:id="rId9"/>
    <p:sldId id="3645" r:id="rId8"/>
    <p:sldId id="3646" r:id="rId7"/>
    <p:sldId id="3647" r:id="rId6"/>
    <p:sldId id="3648" r:id="rId5"/>
    <p:sldId id="3649" r:id="rId4"/>
    <p:sldId id="3650" r:id="rId3"/>
    <p:sldId id="3651" r:id="rId19"/>
    <p:sldId id="3652" r:id="rId20"/>
    <p:sldId id="3653" r:id="rId21"/>
    <p:sldId id="3654" r:id="rId22"/>
    <p:sldId id="3655" r:id="rId23"/>
    <p:sldId id="3656" r:id="rId24"/>
    <p:sldId id="3657" r:id="rId25"/>
    <p:sldId id="3658" r:id="rId26"/>
    <p:sldId id="3659" r:id="rId27"/>
    <p:sldId id="3660" r:id="rId28"/>
    <p:sldId id="3661" r:id="rId29"/>
    <p:sldId id="3662" r:id="rId30"/>
    <p:sldId id="3663" r:id="rId31"/>
    <p:sldId id="3664" r:id="rId32"/>
    <p:sldId id="3665" r:id="rId33"/>
    <p:sldId id="3666" r:id="rId34"/>
    <p:sldId id="3667" r:id="rId35"/>
    <p:sldId id="364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13" autoAdjust="0"/>
    <p:restoredTop sz="96327"/>
  </p:normalViewPr>
  <p:slideViewPr>
    <p:cSldViewPr snapToGrid="0" snapToObjects="1">
      <p:cViewPr varScale="1">
        <p:scale>
          <a:sx n="73" d="100"/>
          <a:sy n="73" d="100"/>
        </p:scale>
        <p:origin x="4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200.xml"/><Relationship Id="rId13" Type="http://schemas.openxmlformats.org/officeDocument/2006/relationships/notesMaster" Target="notesMasters/notes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guide. One-line pitch: NOESIS is an operating-system-style kernel for multi-agent AI — it plans goals deterministically, runs twelve typed agents under least-privilege capabilities, and records an audit trail; an LLM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of the talk, following the UPES end-term template: introduction, literature, objectives, methodology, working model, results, conclusion,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system-level gaps: permissions, reproducibility, memory lifecycle, operations. These are exactly what operating systems solved for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now: untrusted model output, reproducibility, context limits, cost/privacy of local models, operability.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ReAct/Reflexion/Toolformer define the agent loop; AutoGen/MetaGPT/CAMEL/CrewAI/LangGraph coordinate agents; MemGPT/AIOS bring OS ideas to LLMs; Dennis–Van Horn, Saltzer–Schroeder and Miller ground capability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SWOT based on the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diagram: three actors, backend kernel, optional LLMs and 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reflects measured evidence; be explicit about partial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top-down: UI, API gateway, services, agents/kernel, adapters,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Routers → services → agents → memory/tools; repositories map DTOs to ORM rows; providers wrap HTTP APIs; capability gate protects bench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each choice was made: validation, async, portability, zero-cost local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Milestones as evidenced in code/changelog; evaluation questions answered with measured evidence on an isolated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per module; emphasise capability gating and determinism.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returns in under a second; the run continues in a background task; the dashboard polls the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model training; Qwen2.5-Coder 7B Q4_K_M via Ollama; per-agent Sanskrit system prompts and temperatures 0.1–0.3; fallback when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Planner determinism via UUIDv5/sha256/fixed epoch; executor thresholds 0.90/0.50; capability gate 5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Conversation pages are live; dashboard/agents/timeline/memory/documents/metrics fall back to placeholder data because list helpers do not unwrap the API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backend tests pass; two xfails are deliberate; two frontend failures follow an uncommitted http.ts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deny scenario rejected with a specific code; planner is bit-identical; negative finding: resource routes are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In-process latencies; plan/execute dominated by per-request Ollama probe; local 7B ≈ 23 tok/s; 1024-token prompts hit the 120 s timeout.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compile-only checks and synthesised sign-off; README hosted-model numbers have no artefacts.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→ API → claim suites → frontend → static gates → audit scenarios; every FR traces to code and tests in the SRS RTM.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surprises found while building and auditing.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Examiners value honesty: list what is not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items proposed; each builds on existing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contributions and objective status; close with the positioning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full reference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Have the SRS appendix F (claims vs implementation) and the evidence folder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rgbClr val="AE3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END TERM</a:t>
            </a:r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0" i="0">
                <a:solidFill>
                  <a:srgbClr val="1E293B"/>
                </a:solidFill>
                <a:latin typeface="Arial"/>
              </a:rPr>
              <a:t>Major Project — End-Term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0999" y="2514600"/>
            <a:ext cx="9948555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b="1" i="0">
                <a:solidFill>
                  <a:srgbClr val="46B0F9"/>
                </a:solidFill>
                <a:latin typeface="Arial"/>
              </a:rPr>
              <a:t>NOESIS</a:t>
            </a:r>
          </a:p>
          <a:p>
            <a:pPr algn="ctr"/>
            <a:r>
              <a:rPr sz="2000" b="1" i="0">
                <a:solidFill>
                  <a:srgbClr val="1E293B"/>
                </a:solidFill>
                <a:latin typeface="Arial"/>
              </a:rPr>
              <a:t>An Operating-System-Inspired Kernel for Autonomous Multi-Agent Intelligence</a:t>
            </a:r>
          </a:p>
          <a:p>
            <a:pPr algn="ctr"/>
            <a:r>
              <a:rPr sz="1300" b="0" i="0">
                <a:solidFill>
                  <a:srgbClr val="52514E"/>
                </a:solidFill>
                <a:latin typeface="Arial"/>
              </a:rPr>
              <a:t>School of Computer Science · UPES Dehradun · Academic Year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3174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 b="1" i="0">
                <a:solidFill>
                  <a:srgbClr val="1E293B"/>
                </a:solidFill>
                <a:latin typeface="Arial"/>
              </a:rPr>
              <a:t>Presented by:</a:t>
            </a:r>
          </a:p>
          <a:p>
            <a:r>
              <a:rPr sz="1500" b="0" i="0">
                <a:solidFill>
                  <a:srgbClr val="1E293B"/>
                </a:solidFill>
                <a:latin typeface="Arial"/>
              </a:rPr>
              <a:t>500118979  –  Dhruv Shah</a:t>
            </a:r>
          </a:p>
          <a:p>
            <a:r>
              <a:rPr sz="1500" b="0" i="0">
                <a:solidFill>
                  <a:srgbClr val="1E293B"/>
                </a:solidFill>
                <a:latin typeface="Arial"/>
              </a:rPr>
              <a:t>500123471  –  Manan Nasa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2743" y="5003074"/>
            <a:ext cx="2717074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 b="1" i="0">
                <a:solidFill>
                  <a:srgbClr val="1E293B"/>
                </a:solidFill>
                <a:latin typeface="Arial"/>
              </a:rPr>
              <a:t>Mentored By:</a:t>
            </a:r>
          </a:p>
          <a:p>
            <a:r>
              <a:rPr sz="1500" b="0" i="0">
                <a:solidFill>
                  <a:srgbClr val="1E293B"/>
                </a:solidFill>
                <a:latin typeface="Arial"/>
              </a:rPr>
              <a:t>Dr. Archana Kumari</a:t>
            </a:r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71016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Arial"/>
              </a:rPr>
              <a:t>Problem · motivation · gap · proposed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5623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92808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Arial"/>
              </a:rPr>
              <a:t>Agent frameworks · OS-for-LLM · capability security · SWOT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78024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Arial"/>
              </a:rPr>
              <a:t>O1–O7 and their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45536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99816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136392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Arial"/>
              </a:rPr>
              <a:t>Architecture · tech stack · algorithms · 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67328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21608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Working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758184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Arial"/>
              </a:rPr>
              <a:t>Modules · workflow · LLM integration · UI screens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40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379976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Arial"/>
              </a:rPr>
              <a:t>Tests · security · determinism · performance · benchmarks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1091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6519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Conclusion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001768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Arial"/>
              </a:rPr>
              <a:t>Challenges · limitations · future scope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32704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86984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623560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Arial"/>
              </a:rPr>
              <a:t>Key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Introduction —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Agent frameworks wire prompts and tools; the runtime concerns are left to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0744"/>
            <a:ext cx="526694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DC2626"/>
                </a:solidFill>
                <a:latin typeface="Arial"/>
              </a:rPr>
              <a:t>Permission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5266944" cy="13715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Any agent can usually call any tool; nothing checks a scoped capability before a side effect (prompt-injection risk).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1380744"/>
            <a:ext cx="526694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D97706"/>
                </a:solidFill>
                <a:latin typeface="Arial"/>
              </a:rPr>
              <a:t>Reproducibility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764792"/>
            <a:ext cx="5266944" cy="13715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Sampling makes the same goal yield different plans — hard to debug, test or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EFEBFB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8144"/>
            <a:ext cx="526694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6E56CF"/>
                </a:solidFill>
                <a:latin typeface="Arial"/>
              </a:rPr>
              <a:t>Memory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22191"/>
            <a:ext cx="5266944" cy="13715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Flat vector stores; promotion, retention and provenance are ad hoc.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8328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3438144"/>
            <a:ext cx="526694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1F6FB2"/>
                </a:solidFill>
                <a:latin typeface="Arial"/>
              </a:rPr>
              <a:t>Operational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3822191"/>
            <a:ext cx="5266944" cy="13715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Health, metrics, per-step audit and an operator console are outside the framework.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Problem: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apply OS primitives — least-privilege capabilities, deterministic scheduling, tiered memory with provenance, observable syscalls — to multi-agent LLM workflows, usable on one laptop with or without an LLM.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Introduction —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24780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DC2626"/>
                </a:solidFill>
                <a:latin typeface="Arial"/>
              </a:rPr>
              <a:t>Untrusted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2478024" cy="2880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Prompt injection turns fetched text into instructions → side effects need a check the model cannot bypass.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371600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426464"/>
            <a:ext cx="24780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F6FB2"/>
                </a:solidFill>
                <a:latin typeface="Arial"/>
              </a:rPr>
              <a:t>Engineering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1810512"/>
            <a:ext cx="2478024" cy="2880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Same input ⇒ same plan enables unit tests, snapshots and exact replay.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371600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E7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426464"/>
            <a:ext cx="24780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6A34A"/>
                </a:solidFill>
                <a:latin typeface="Arial"/>
              </a:rPr>
              <a:t>Local, free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1810512"/>
            <a:ext cx="2478024" cy="2880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Qwen2.5-Coder 7B via Ollama runs on a laptop; the kernel must treat any LLM as optional.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1371600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EFEBFB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1" y="1426464"/>
            <a:ext cx="24780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6E56CF"/>
                </a:solidFill>
                <a:latin typeface="Arial"/>
              </a:rPr>
              <a:t>Explainable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1" y="1810512"/>
            <a:ext cx="2478024" cy="2880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Syscalls, capability tables, schedulers and interrupts make agent systems teachable and testable.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52514E"/>
                </a:solidFill>
                <a:latin typeface="Arial"/>
              </a:rPr>
              <a:t>OS analogy: process → agent · syscall → tool/memory/model call · capability list → permission set · scheduler → step order · interrupt → async event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Literature Review — Existing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Qualitative comparison of system-level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Literature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001"/>
                <a:gridCol w="2356539"/>
                <a:gridCol w="2463654"/>
                <a:gridCol w="364192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Concern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Agent frameworks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OS-for-LLM research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NOESIS (as built)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Capability check on tool calls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Application-defined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Proposed (AIOS)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Implemented (registry + kernel)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Spawn-time privilege check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Rare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Implemented (AgentRoster)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Reproducible planning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Sampling-dependent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Not a focus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Implemented — 50/50 goals bit-identical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Tiered memory + provenance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Vector stores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Context paging (MemGPT)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6 tiers + SHA-256 chain (component)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Works without an LLM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Yes — deterministic agents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Agent task intelligence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LLM-driven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LLM-driven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Rule-based (limitation)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Gap: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no self-hostable runtime in the reviewed work combines kernel-mediated capabilities, bit-exact plan replay, provenance-logged memory and an operator console while staying functional without an LLM.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Literature Review — 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Literature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E7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89304"/>
            <a:ext cx="526694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73352"/>
            <a:ext cx="526694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OS-style, test-covered architecture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Bit-identical planning (~1 ms/plan)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Works with or without an LLM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310 backend tests pass · 70 %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1289304"/>
            <a:ext cx="526694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DC2626"/>
                </a:solidFill>
                <a:latin typeface="Arial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1673352"/>
            <a:ext cx="526694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Agents are rule-based heuristics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Resource routes unauthenticated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Simulated ingestion / RAG agent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6 dashboard pages show placeholders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803903"/>
            <a:ext cx="526694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1F6FB2"/>
                </a:solidFill>
                <a:latin typeface="Arial"/>
              </a:rPr>
              <a:t>Opportunities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187952"/>
            <a:ext cx="526694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Wire BM25 + memory bus into runs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LLM-backed agents with same typed reports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Functional code benchmarks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Capability gate on all routes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3803903"/>
            <a:ext cx="526694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D97706"/>
                </a:solidFill>
                <a:latin typeface="Arial"/>
              </a:rPr>
              <a:t>Threats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4187952"/>
            <a:ext cx="526694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Fast-moving frameworks (LangGraph, AutoGen)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Local 7B ≈ 23 tok/s — slow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Prompt injection once LLM drives actions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• Over-claiming in docs erodes trust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Proposed Solution — NOESIS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pic>
        <p:nvPicPr>
          <p:cNvPr id="6" name="Picture 5" descr="fig_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22552"/>
            <a:ext cx="7040880" cy="39615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234440"/>
            <a:ext cx="4206240" cy="4937760"/>
          </a:xfrm>
          <a:prstGeom prst="roundRect">
            <a:avLst>
              <a:gd name="adj" fmla="val 6000"/>
            </a:avLst>
          </a:prstGeom>
          <a:solidFill>
            <a:srgbClr val="EFEBFB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7" y="1289304"/>
            <a:ext cx="3986783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6E56CF"/>
                </a:solidFill>
                <a:latin typeface="Arial"/>
              </a:rPr>
              <a:t>What NOESIS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7" y="1673352"/>
            <a:ext cx="3986783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Arial"/>
              </a:rPr>
              <a:t>Goal → </a:t>
            </a:r>
            <a:r>
              <a:rPr sz="1400" b="1" i="0">
                <a:solidFill>
                  <a:srgbClr val="1E293B"/>
                </a:solidFill>
                <a:latin typeface="Arial"/>
              </a:rPr>
              <a:t>deterministic plan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(seeded DAG)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Arial"/>
              </a:rPr>
              <a:t>Steps run by </a:t>
            </a:r>
            <a:r>
              <a:rPr sz="1400" b="1" i="0">
                <a:solidFill>
                  <a:srgbClr val="1E293B"/>
                </a:solidFill>
                <a:latin typeface="Arial"/>
              </a:rPr>
              <a:t>12 typed agents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Arial"/>
              </a:rPr>
              <a:t>Each step gets a </a:t>
            </a:r>
            <a:r>
              <a:rPr sz="1400" b="1" i="0">
                <a:solidFill>
                  <a:srgbClr val="1E293B"/>
                </a:solidFill>
                <a:latin typeface="Arial"/>
              </a:rPr>
              <a:t>least-privilege token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Arial"/>
              </a:rPr>
              <a:t>Every step </a:t>
            </a:r>
            <a:r>
              <a:rPr sz="1400" b="1" i="0">
                <a:solidFill>
                  <a:srgbClr val="1E293B"/>
                </a:solidFill>
                <a:latin typeface="Arial"/>
              </a:rPr>
              <a:t>audited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(rows, messages, spans)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6-tier memory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with SHA-256 provenance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Arial"/>
              </a:rPr>
              <a:t>LLM </a:t>
            </a:r>
            <a:r>
              <a:rPr sz="1400" b="1" i="0">
                <a:solidFill>
                  <a:srgbClr val="1E293B"/>
                </a:solidFill>
                <a:latin typeface="Arial"/>
              </a:rPr>
              <a:t>optional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— adds rationale only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Arial"/>
              </a:rPr>
              <a:t>REST API (42 ops) + Next.js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Main objective: a permission-checked, reproducible, auditable agent kernel usable without paid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85800" cy="41148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44168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Agent microkernel: typed agents, capabilities, syscall tracing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38988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Achieved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685800" cy="41148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29968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Deterministic, reproducible planning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07568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Achieved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685800" cy="41148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15768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Least-privilege enforcement (agents, tools, routes)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76148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Partial — routes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29000"/>
            <a:ext cx="685800" cy="41148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01568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Tiered memory with verifiable provenance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44728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Component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685800" cy="41148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087368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Optional LLMs with graceful fallback; characterise local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13308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Achieved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00600"/>
            <a:ext cx="685800" cy="41148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73168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REST API + dashboard with automated tests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81888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Partial — 6 mock pages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685800" cy="41148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458968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Evaluation harness with statistics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50468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Partial — compile-only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Methodology —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Five layers over storage; dependencies point downwards (ports and adapters)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pic>
        <p:nvPicPr>
          <p:cNvPr id="7" name="Picture 6" descr="fig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01" y="1188720"/>
            <a:ext cx="780551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Methodology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Backend components and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pic>
        <p:nvPicPr>
          <p:cNvPr id="7" name="Picture 6" descr="fig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72128"/>
            <a:ext cx="7498079" cy="51538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234440"/>
            <a:ext cx="3794760" cy="5029200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289304"/>
            <a:ext cx="357530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F6FB2"/>
                </a:solidFill>
                <a:latin typeface="Arial"/>
              </a:rPr>
              <a:t>Key numbers (measured)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1673352"/>
            <a:ext cx="3575304" cy="452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17,072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LOC backend (16 packages)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42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HTTP operations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27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syscall ids · </a:t>
            </a:r>
            <a:r>
              <a:rPr sz="1400" b="1" i="0">
                <a:solidFill>
                  <a:srgbClr val="1E293B"/>
                </a:solidFill>
                <a:latin typeface="Arial"/>
              </a:rPr>
              <a:t>6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handlers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12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agents · </a:t>
            </a:r>
            <a:r>
              <a:rPr sz="1400" b="1" i="0">
                <a:solidFill>
                  <a:srgbClr val="1E293B"/>
                </a:solidFill>
                <a:latin typeface="Arial"/>
              </a:rPr>
              <a:t>9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tool adapters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5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LLM provider families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7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SQL tables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Arial"/>
              </a:rPr>
              <a:t>9,612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lines TS/TSX · </a:t>
            </a:r>
            <a:r>
              <a:rPr sz="1400" b="1" i="0">
                <a:solidFill>
                  <a:srgbClr val="1E293B"/>
                </a:solidFill>
                <a:latin typeface="Arial"/>
              </a:rPr>
              <a:t>13</a:t>
            </a:r>
            <a:r>
              <a:rPr sz="1400" b="0" i="0">
                <a:solidFill>
                  <a:srgbClr val="1E293B"/>
                </a:solidFill>
                <a:latin typeface="Arial"/>
              </a:rPr>
              <a:t> routes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Methodology —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1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678"/>
                <a:gridCol w="5305245"/>
                <a:gridCol w="4244196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API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FastAPI · Uvicorn · Pydantic v2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Typed validation, async, OpenAPI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Persistence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SQLAlchemy 2 async · aiosqlite · Alembic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Portable SQL, zero setup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LLM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httpx · tenacity · Ollama (Qwen2.5-Coder 7B)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5 providers, retries, local inference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HS256 JWT · bcrypt/scrypt · HMAC-SHA256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Standard primitives, no external IdP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Observability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structlog · prometheus-client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JSON logs, scrapeable metrics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Next.js 14 · React 18 · TS · TanStack Query · Zod · Tailwind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Routing, caching, runtime schemas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pytest · coverage · Vitest · tsc · ESLint · ruff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Automated gates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Ops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Docker Compose · GitHub Actions (defined)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Reproducible deployment target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Methodology — Process &amp; Evaluation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3258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783080" cy="1417320"/>
          </a:xfrm>
          <a:prstGeom prst="roundRect">
            <a:avLst>
              <a:gd name="adj" fmla="val 6000"/>
            </a:avLst>
          </a:prstGeom>
          <a:solidFill>
            <a:srgbClr val="E8F5FD"/>
          </a:solidFill>
          <a:ln w="15875">
            <a:solidFill>
              <a:srgbClr val="3AA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01952"/>
            <a:ext cx="156362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rial"/>
              </a:rPr>
              <a:t>Foundation: types, settings, ORM, providers, probes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1517904"/>
            <a:ext cx="621792" cy="0"/>
          </a:xfrm>
          <a:prstGeom prst="line">
            <a:avLst/>
          </a:prstGeom>
          <a:ln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62072" y="13258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9152" y="1828800"/>
            <a:ext cx="1783080" cy="1417320"/>
          </a:xfrm>
          <a:prstGeom prst="roundRect">
            <a:avLst>
              <a:gd name="adj" fmla="val 6000"/>
            </a:avLst>
          </a:prstGeom>
          <a:solidFill>
            <a:srgbClr val="E8F5FD"/>
          </a:solidFill>
          <a:ln w="15875">
            <a:solidFill>
              <a:srgbClr val="3AA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901952"/>
            <a:ext cx="156362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rial"/>
              </a:rPr>
              <a:t>Memory tiers, bus, promotion, RAG library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42232" y="1517904"/>
            <a:ext cx="621792" cy="0"/>
          </a:xfrm>
          <a:prstGeom prst="line">
            <a:avLst/>
          </a:prstGeom>
          <a:ln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64024" y="13258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1828800"/>
            <a:ext cx="1783080" cy="1417320"/>
          </a:xfrm>
          <a:prstGeom prst="roundRect">
            <a:avLst>
              <a:gd name="adj" fmla="val 6000"/>
            </a:avLst>
          </a:prstGeom>
          <a:solidFill>
            <a:srgbClr val="E8F5FD"/>
          </a:solidFill>
          <a:ln w="15875">
            <a:solidFill>
              <a:srgbClr val="3AA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1901952"/>
            <a:ext cx="156362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rial"/>
              </a:rPr>
              <a:t>Tools, research/reflection/coding agents, auth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44184" y="1517904"/>
            <a:ext cx="621792" cy="0"/>
          </a:xfrm>
          <a:prstGeom prst="line">
            <a:avLst/>
          </a:prstGeom>
          <a:ln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65976" y="13258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828800"/>
            <a:ext cx="1783080" cy="1417320"/>
          </a:xfrm>
          <a:prstGeom prst="roundRect">
            <a:avLst>
              <a:gd name="adj" fmla="val 6000"/>
            </a:avLst>
          </a:prstGeom>
          <a:solidFill>
            <a:srgbClr val="E8F5FD"/>
          </a:solidFill>
          <a:ln w="15875">
            <a:solidFill>
              <a:srgbClr val="3AA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1901952"/>
            <a:ext cx="156362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rial"/>
              </a:rPr>
              <a:t>Planner/Agent services, v1 routes, dashboard parity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46136" y="1517904"/>
            <a:ext cx="621792" cy="0"/>
          </a:xfrm>
          <a:prstGeom prst="line">
            <a:avLst/>
          </a:prstGeom>
          <a:ln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67928" y="13258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1828800"/>
            <a:ext cx="1783080" cy="1417320"/>
          </a:xfrm>
          <a:prstGeom prst="roundRect">
            <a:avLst>
              <a:gd name="adj" fmla="val 6000"/>
            </a:avLst>
          </a:prstGeom>
          <a:solidFill>
            <a:srgbClr val="E8F5FD"/>
          </a:solidFill>
          <a:ln w="15875">
            <a:solidFill>
              <a:srgbClr val="3AA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6" y="1901952"/>
            <a:ext cx="156362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rial"/>
              </a:rPr>
              <a:t>Full 12-agent roster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48088" y="1517904"/>
            <a:ext cx="621792" cy="0"/>
          </a:xfrm>
          <a:prstGeom prst="line">
            <a:avLst/>
          </a:prstGeom>
          <a:ln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69880" y="13258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1828800"/>
            <a:ext cx="1783080" cy="1417320"/>
          </a:xfrm>
          <a:prstGeom prst="roundRect">
            <a:avLst>
              <a:gd name="adj" fmla="val 6000"/>
            </a:avLst>
          </a:prstGeom>
          <a:solidFill>
            <a:srgbClr val="E8F5FD"/>
          </a:solidFill>
          <a:ln w="15875">
            <a:solidFill>
              <a:srgbClr val="3AA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6688" y="1901952"/>
            <a:ext cx="1563624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rial"/>
              </a:rPr>
              <a:t>Local-LLM evaluation runs (6 Oct 2026)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3520440"/>
          <a:ext cx="1124711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5725806"/>
                <a:gridCol w="2453917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Does it behave as specified?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Run 312 backend + 105 frontend tests (isolated copy)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pass/fail, coverage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Are permissions enforced?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Kernel, roster, tool &amp; HTTP-gate scenarios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expected vs observed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Is planning reproducible?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50 SE-50 goals × 3 runs; 5 seeds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unique SHA-256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How fast?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TestClient latency; /llm/benchmark with Ollama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p50/p95 ms, tok/s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What do benchmarks show?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Re-analyse W7 artefacts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compile-pass, sign-off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Working Model — Key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Working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FEBFB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89304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6E56CF"/>
                </a:solidFill>
                <a:latin typeface="Arial"/>
              </a:rPr>
              <a:t>Kernel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73352"/>
            <a:ext cx="339242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27 syscall ids, capability table with glob targets, span ring buffer (10 k), scheduler, quota allocator, model router, interrupts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289304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1F6FB2"/>
                </a:solidFill>
                <a:latin typeface="Arial"/>
              </a:rPr>
              <a:t>Agents (12)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673352"/>
            <a:ext cx="339242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Planner, Research, Coding, Memory, RAG, Tool, Reflection, Judge, Critic, Executor, Supervisor, Orchestrator — typed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7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289304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16A34A"/>
                </a:solidFill>
                <a:latin typeface="Arial"/>
              </a:rPr>
              <a:t>Runtime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673352"/>
            <a:ext cx="339242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PlannerSvc + AgentSvc: Kahn ordering, per-step token (TTL 900 s), LLM-or-fallback, audit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03903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D97706"/>
                </a:solidFill>
                <a:latin typeface="Arial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87952"/>
            <a:ext cx="339242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T1 Indriya → T6 Paalak promotion with SHA-256 chain; memory bus with RRF 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749039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3803903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DC2626"/>
                </a:solidFill>
                <a:latin typeface="Arial"/>
              </a:rPr>
              <a:t>Tools &amp; 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4187952"/>
            <a:ext cx="339242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Shell (dry-run), Python AST sandbox, files (rooted), web fetch (http/https) + 5 more adapters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749039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8F5FD"/>
          </a:solidFill>
          <a:ln w="15875">
            <a:solidFill>
              <a:srgbClr val="3AA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803903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3AA0E8"/>
                </a:solidFill>
                <a:latin typeface="Arial"/>
              </a:rPr>
              <a:t>Security &amp;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187952"/>
            <a:ext cx="3392424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JWT + bcrypt + rate limit; HMAC capability gate; Prometheus; request ids; secret-scrubbed logs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Working Model —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Create conversation → plan → background execution → thread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Working Model</a:t>
            </a:r>
          </a:p>
        </p:txBody>
      </p:sp>
      <p:pic>
        <p:nvPicPr>
          <p:cNvPr id="7" name="Picture 6" descr="fig_seq_conver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719" y="1188720"/>
            <a:ext cx="853608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Working Model — AI / LLM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Deterministic agents decide; the LLM (if reachable) contributes rationale and token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Working Model</a:t>
            </a:r>
          </a:p>
        </p:txBody>
      </p:sp>
      <p:pic>
        <p:nvPicPr>
          <p:cNvPr id="7" name="Picture 6" descr="fig_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188720"/>
            <a:ext cx="6827519" cy="5120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123444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E7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289304"/>
            <a:ext cx="3483863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6A34A"/>
                </a:solidFill>
                <a:latin typeface="Arial"/>
              </a:rPr>
              <a:t>Model &amp;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1673352"/>
            <a:ext cx="3483863" cy="452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Model: </a:t>
            </a:r>
            <a:r>
              <a:rPr sz="1350" b="1" i="0">
                <a:solidFill>
                  <a:srgbClr val="1E293B"/>
                </a:solidFill>
                <a:latin typeface="Arial"/>
              </a:rPr>
              <a:t>qwen2.5-coder:7b-instruct-q4_K_M</a:t>
            </a:r>
            <a:r>
              <a:rPr sz="1350" b="0" i="0">
                <a:solidFill>
                  <a:srgbClr val="1E293B"/>
                </a:solidFill>
                <a:latin typeface="Arial"/>
              </a:rPr>
              <a:t> (7.6 B, 4.68 GB)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Temperatures: planner/coding/judge 0.1 · critic 0.3 · others 0.2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State ≤ 6 000 chars per call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Unreachable → deterministic, 0 tokens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No training, no fine-tuning, no embeddings at run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Working Model — Implementation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Working Model</a:t>
            </a:r>
          </a:p>
        </p:txBody>
      </p:sp>
      <p:pic>
        <p:nvPicPr>
          <p:cNvPr id="6" name="Picture 5" descr="fig_planner_al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43800"/>
            <a:ext cx="5852160" cy="4610478"/>
          </a:xfrm>
          <a:prstGeom prst="rect">
            <a:avLst/>
          </a:prstGeom>
        </p:spPr>
      </p:pic>
      <p:pic>
        <p:nvPicPr>
          <p:cNvPr id="7" name="Picture 6" descr="fig_execu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179860"/>
            <a:ext cx="5577840" cy="31383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Working Model — Dashboard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Screenshots of the running application (scratch backend, 6 Oct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Working Model</a:t>
            </a:r>
          </a:p>
        </p:txBody>
      </p:sp>
      <p:pic>
        <p:nvPicPr>
          <p:cNvPr id="7" name="Picture 6" descr="02_convers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5" y="1188720"/>
            <a:ext cx="3584448" cy="22402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Arial"/>
              </a:rPr>
              <a:t>Conversations — live</a:t>
            </a:r>
          </a:p>
        </p:txBody>
      </p:sp>
      <p:pic>
        <p:nvPicPr>
          <p:cNvPr id="9" name="Picture 8" descr="04_conversation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1188720"/>
            <a:ext cx="3584448" cy="22402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72200" y="34290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Arial"/>
              </a:rPr>
              <a:t>Thread — live step reports</a:t>
            </a:r>
          </a:p>
        </p:txBody>
      </p:sp>
      <p:pic>
        <p:nvPicPr>
          <p:cNvPr id="11" name="Picture 10" descr="05_ag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175" y="3794760"/>
            <a:ext cx="3584448" cy="22402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Arial"/>
              </a:rPr>
              <a:t>Agents — placeholder data</a:t>
            </a:r>
          </a:p>
        </p:txBody>
      </p:sp>
      <p:pic>
        <p:nvPicPr>
          <p:cNvPr id="13" name="Picture 12" descr="07_bench_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176" y="3794760"/>
            <a:ext cx="3584448" cy="22402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172200" y="60350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Arial"/>
              </a:rPr>
              <a:t>Bench Hub — labelled demo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Results — 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Measured on an isolated copy of the working tree (Python 3.13.2, Node 20.18.1)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1965960" cy="67894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6A34A"/>
                </a:solidFill>
                <a:latin typeface="Arial"/>
              </a:rPr>
              <a:t>310/312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50415"/>
            <a:ext cx="196596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rial"/>
              </a:rPr>
              <a:t>backend tests passed (2 xfail)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23444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307592"/>
            <a:ext cx="1965960" cy="67894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F6FB2"/>
                </a:solidFill>
                <a:latin typeface="Arial"/>
              </a:rPr>
              <a:t>70.0 %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50415"/>
            <a:ext cx="196596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rial"/>
              </a:rPr>
              <a:t>line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23444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307592"/>
            <a:ext cx="1965960" cy="67894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D97706"/>
                </a:solidFill>
                <a:latin typeface="Arial"/>
              </a:rPr>
              <a:t>103/105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50415"/>
            <a:ext cx="196596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rial"/>
              </a:rPr>
              <a:t>frontend tests 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23444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307592"/>
            <a:ext cx="1965960" cy="67894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6A34A"/>
                </a:solidFill>
                <a:latin typeface="Arial"/>
              </a:rPr>
              <a:t>0 /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950415"/>
            <a:ext cx="196596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rial"/>
              </a:rPr>
              <a:t>tsc errors / ESLint issues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23444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FEBFB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307592"/>
            <a:ext cx="1965960" cy="67894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6E56CF"/>
                </a:solidFill>
                <a:latin typeface="Arial"/>
              </a:rPr>
              <a:t>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950415"/>
            <a:ext cx="196596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rial"/>
              </a:rPr>
              <a:t>API scenarios exercised</a:t>
            </a:r>
          </a:p>
        </p:txBody>
      </p:sp>
      <p:pic>
        <p:nvPicPr>
          <p:cNvPr id="22" name="Picture 21" descr="chart_backend_t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51" y="2651760"/>
            <a:ext cx="5043537" cy="3749039"/>
          </a:xfrm>
          <a:prstGeom prst="rect">
            <a:avLst/>
          </a:prstGeom>
        </p:spPr>
      </p:pic>
      <p:pic>
        <p:nvPicPr>
          <p:cNvPr id="23" name="Picture 22" descr="chart_cover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728088"/>
            <a:ext cx="5577840" cy="359638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Results — Security &amp; Determinism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5760718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39"/>
                <a:gridCol w="246887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Scenario (measured)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No capability token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403 C1_DENY_MISSING_CAP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Forged HMAC secret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403 C1_DENY_MAC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Expired token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403 C1_DENY_EXPIRED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Capability not on token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403 C1_DENY_MISSING_CAP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Deny mask llm.*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403 C1_DENY_MASK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Kernel: 0 caps → TOOL_INVOKE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denied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Roster: 12 agents, empty caps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12/12 denied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Sandbox: import os / open()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blocked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Files: ../../etc/passwd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refused (exit 13)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6th login in 60 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GET /v1/conversations, no token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</a:rPr>
                        <a:t>200 ⚠ open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hart_pl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5935"/>
            <a:ext cx="5486400" cy="23802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420624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EFEBFB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4261103"/>
            <a:ext cx="526694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6E56CF"/>
                </a:solidFill>
                <a:latin typeface="Arial"/>
              </a:rPr>
              <a:t>Determinism (measured)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4645152"/>
            <a:ext cx="5266944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Arial"/>
              </a:rPr>
              <a:t>50/50</a:t>
            </a:r>
            <a:r>
              <a:rPr sz="1350" b="0" i="0">
                <a:solidFill>
                  <a:srgbClr val="1E293B"/>
                </a:solidFill>
                <a:latin typeface="Arial"/>
              </a:rPr>
              <a:t> SE-50 goals → one SHA-256 over 3 runs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Median plan time </a:t>
            </a:r>
            <a:r>
              <a:rPr sz="1350" b="1" i="0">
                <a:solidFill>
                  <a:srgbClr val="1E293B"/>
                </a:solidFill>
                <a:latin typeface="Arial"/>
              </a:rPr>
              <a:t>1.05 ms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5 seeds → 5 distinct plans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Promotion chain tail identical in </a:t>
            </a:r>
            <a:r>
              <a:rPr sz="1350" b="1" i="0">
                <a:solidFill>
                  <a:srgbClr val="1E293B"/>
                </a:solidFill>
                <a:latin typeface="Arial"/>
              </a:rPr>
              <a:t>5/5</a:t>
            </a:r>
            <a:r>
              <a:rPr sz="1350" b="0" i="0">
                <a:solidFill>
                  <a:srgbClr val="1E293B"/>
                </a:solidFill>
                <a:latin typeface="Arial"/>
              </a:rPr>
              <a:t> repeats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Results —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pic>
        <p:nvPicPr>
          <p:cNvPr id="6" name="Picture 5" descr="chart_api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73110"/>
            <a:ext cx="5943600" cy="3580258"/>
          </a:xfrm>
          <a:prstGeom prst="rect">
            <a:avLst/>
          </a:prstGeom>
        </p:spPr>
      </p:pic>
      <p:pic>
        <p:nvPicPr>
          <p:cNvPr id="7" name="Picture 6" descr="chart_llm_through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052" y="1143000"/>
            <a:ext cx="5122455" cy="2377440"/>
          </a:xfrm>
          <a:prstGeom prst="rect">
            <a:avLst/>
          </a:prstGeom>
        </p:spPr>
      </p:pic>
      <p:pic>
        <p:nvPicPr>
          <p:cNvPr id="8" name="Picture 7" descr="chart_run_ste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178" y="3611880"/>
            <a:ext cx="5242202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120640"/>
            <a:ext cx="5760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Arial"/>
              </a:rPr>
              <a:t>Read endpoints </a:t>
            </a:r>
            <a:r>
              <a:rPr sz="1300" b="1" i="0">
                <a:solidFill>
                  <a:srgbClr val="1E293B"/>
                </a:solidFill>
                <a:latin typeface="Arial"/>
              </a:rPr>
              <a:t>1–11 ms</a:t>
            </a:r>
            <a:r>
              <a:rPr sz="1300" b="0" i="0">
                <a:solidFill>
                  <a:srgbClr val="1E293B"/>
                </a:solidFill>
                <a:latin typeface="Arial"/>
              </a:rPr>
              <a:t> (p50) · login </a:t>
            </a:r>
            <a:r>
              <a:rPr sz="1300" b="1" i="0">
                <a:solidFill>
                  <a:srgbClr val="1E293B"/>
                </a:solidFill>
                <a:latin typeface="Arial"/>
              </a:rPr>
              <a:t>≈ 180 ms</a:t>
            </a:r>
            <a:r>
              <a:rPr sz="1300" b="0" i="0">
                <a:solidFill>
                  <a:srgbClr val="1E293B"/>
                </a:solidFill>
                <a:latin typeface="Arial"/>
              </a:rPr>
              <a:t> (password hashing) · 5-step run </a:t>
            </a:r>
            <a:r>
              <a:rPr sz="1300" b="1" i="0">
                <a:solidFill>
                  <a:srgbClr val="1E293B"/>
                </a:solidFill>
                <a:latin typeface="Arial"/>
              </a:rPr>
              <a:t>1.96 s</a:t>
            </a:r>
            <a:r>
              <a:rPr sz="1300" b="0" i="0">
                <a:solidFill>
                  <a:srgbClr val="1E293B"/>
                </a:solidFill>
                <a:latin typeface="Arial"/>
              </a:rPr>
              <a:t> deterministic vs </a:t>
            </a:r>
            <a:r>
              <a:rPr sz="1300" b="1" i="0">
                <a:solidFill>
                  <a:srgbClr val="1E293B"/>
                </a:solidFill>
                <a:latin typeface="Arial"/>
              </a:rPr>
              <a:t>60.4 s</a:t>
            </a:r>
            <a:r>
              <a:rPr sz="1300" b="0" i="0">
                <a:solidFill>
                  <a:srgbClr val="1E293B"/>
                </a:solidFill>
                <a:latin typeface="Arial"/>
              </a:rPr>
              <a:t> with qwen2.5-coder 7B · local LLM </a:t>
            </a:r>
            <a:r>
              <a:rPr sz="1300" b="1" i="0">
                <a:solidFill>
                  <a:srgbClr val="1E293B"/>
                </a:solidFill>
                <a:latin typeface="Arial"/>
              </a:rPr>
              <a:t>≈ 23 tok/s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Results — Benchmark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W7 run of 6 Oct 2026 — reported artefacts, re-analysed: what the numbers do and do not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pic>
        <p:nvPicPr>
          <p:cNvPr id="7" name="Picture 6" descr="chart_codeb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10" y="1188720"/>
            <a:ext cx="6501578" cy="30175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234440"/>
          <a:ext cx="47091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533"/>
                <a:gridCol w="1267850"/>
                <a:gridCol w="190177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Benchmark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SE-50 (5 tasks × 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15/15 SIGNOFF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Pipeline integrity; criteria synthesised as met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HumanEval stub (5 × 5)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11/25 compile (0.44)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Syntax only — no tests executed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MBPP stub (5 × 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0/25 compile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Samples did not compile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GPT-4o / Claude / Gemini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no artefacts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Arial"/>
                        </a:rPr>
                        <a:t>README figures not reproducible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4434840"/>
            <a:ext cx="11475720" cy="146304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4489703"/>
            <a:ext cx="1125626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D97706"/>
                </a:solidFill>
                <a:latin typeface="Arial"/>
              </a:rPr>
              <a:t>Honest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4873752"/>
            <a:ext cx="11256264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The harness, statistics (pass@k, bootstrap, Wilson, McNemar) and corpus exist and run end-to-end with a local model; meaningful task-quality claims require functional test execution and full corpora — future 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Testing — Strategy &amp;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585215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678"/>
                <a:gridCol w="2302489"/>
                <a:gridCol w="15349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Tooling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Unit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pytest, pytest-asyncio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310 pass · 2 xfail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Integration (lifespan)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TestClient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3/3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Security claim suites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pytest markers C1/MAC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8/8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Vitest + Testing Library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103/105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Static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tsc · ESLint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0 · 0/0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System / audit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58 HTTP scenarios + screenshots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documented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Accessibility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axe-core script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Arial"/>
                        </a:rPr>
                        <a:t>not run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92240" y="123444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289304"/>
            <a:ext cx="5129783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F6FB2"/>
                </a:solidFill>
                <a:latin typeface="Arial"/>
              </a:rPr>
              <a:t>Requirements traceability (65 FRs)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673352"/>
            <a:ext cx="5129783" cy="3429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Arial"/>
              </a:rPr>
              <a:t>43</a:t>
            </a:r>
            <a:r>
              <a:rPr sz="1350" b="0" i="0">
                <a:solidFill>
                  <a:srgbClr val="1E293B"/>
                </a:solidFill>
                <a:latin typeface="Arial"/>
              </a:rPr>
              <a:t> — Implemented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Arial"/>
              </a:rPr>
              <a:t>7</a:t>
            </a:r>
            <a:r>
              <a:rPr sz="1350" b="0" i="0">
                <a:solidFill>
                  <a:srgbClr val="1E293B"/>
                </a:solidFill>
                <a:latin typeface="Arial"/>
              </a:rPr>
              <a:t> — Partially implemented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Arial"/>
              </a:rPr>
              <a:t>7</a:t>
            </a:r>
            <a:r>
              <a:rPr sz="1350" b="0" i="0">
                <a:solidFill>
                  <a:srgbClr val="1E293B"/>
                </a:solidFill>
                <a:latin typeface="Arial"/>
              </a:rPr>
              <a:t> — Implemented as library (not wired to API)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Arial"/>
              </a:rPr>
              <a:t>6</a:t>
            </a:r>
            <a:r>
              <a:rPr sz="1350" b="0" i="0">
                <a:solidFill>
                  <a:srgbClr val="1E293B"/>
                </a:solidFill>
                <a:latin typeface="Arial"/>
              </a:rPr>
              <a:t> — Stub / simulated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Arial"/>
              </a:rPr>
              <a:t>2</a:t>
            </a:r>
            <a:r>
              <a:rPr sz="1350" b="0" i="0">
                <a:solidFill>
                  <a:srgbClr val="1E293B"/>
                </a:solidFill>
                <a:latin typeface="Arial"/>
              </a:rPr>
              <a:t> — Planned (not implemented)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Each FR → module → test case → status (SRS §17.2)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Arial"/>
              </a:rPr>
              <a:t>14 acceptance test cases executed; 3 fail by design of current code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89304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DC2626"/>
                </a:solidFill>
                <a:latin typeface="Arial"/>
              </a:rPr>
              <a:t>Contract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733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Backend envelopes vs frontend array checks silently turned live pages into mock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289304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D97706"/>
                </a:solidFill>
                <a:latin typeface="Arial"/>
              </a:rPr>
              <a:t>Run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6733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run_id stored only in JSON metadata; executions-by-run endpoint returns empty.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FEBFB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289304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6E56CF"/>
                </a:solidFill>
                <a:latin typeface="Arial"/>
              </a:rPr>
              <a:t>Determinism leaks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6733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Python hash() randomisation and wall-clock time had to be removed from plan identity.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03903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1F6FB2"/>
                </a:solidFill>
                <a:latin typeface="Arial"/>
              </a:rPr>
              <a:t>Slow local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879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≈ 23 tok/s; 1 024-token prompts exceed the 120 s timeout.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749039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3803903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64748B"/>
                </a:solidFill>
                <a:latin typeface="Arial"/>
              </a:rPr>
              <a:t>Windows TCP refusal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41879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~2 s per probe to absent services dominated plan/execute latency.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749039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7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803903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16A34A"/>
                </a:solidFill>
                <a:latin typeface="Arial"/>
              </a:rPr>
              <a:t>Evidence vs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1879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Arial"/>
              </a:rPr>
              <a:t>README numbers (tests, routes, benchmarks) had to be reconciled with the code.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35024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9844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Agents are rule-based; the LLM only adds rationale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01952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Resource routes have no authentication/authorisation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4203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05456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Document upload &amp; RAG agent simulated (BM25 library not wired)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45536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08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Memory promotion not driven by live runs; persistence not wired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12463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Six dashboard pages show placeholder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52544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1596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Benchmarks: compile-only and synthesised sign-off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56047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19471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Single-process state; containers &amp; CI not verified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59551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22975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Two frontend tests fail on the working tree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89304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DC2626"/>
                </a:solidFill>
                <a:latin typeface="Arial"/>
              </a:rPr>
              <a:t>Secure the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733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require_auth + ownership on all /v1 routes; reject default HMAC secret; SSRF filter; process sandbox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FEBFB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289304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6E56CF"/>
                </a:solidFill>
                <a:latin typeface="Arial"/>
              </a:rPr>
              <a:t>Smarter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6733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LLM-backed agents emitting the same typed reports (structured output) with deterministic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7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289304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16A34A"/>
                </a:solidFill>
                <a:latin typeface="Arial"/>
              </a:rPr>
              <a:t>Real retrieval &amp;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6733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Wire BM25/RRF + embeddings/Qdrant into upload and RAGAgent; drive promotion from recall; persist tiers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6F0FA"/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03903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1F6FB2"/>
                </a:solidFill>
                <a:latin typeface="Arial"/>
              </a:rPr>
              <a:t>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879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Unwrap envelopes; stream step progress (SSE); run_id column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749039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3803903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D97706"/>
                </a:solidFill>
                <a:latin typeface="Arial"/>
              </a:rPr>
              <a:t>Rigorous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41879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Functional pass@k on full HumanEval/MBPP; SWE-bench Lite; paired McNemar comparisons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749039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803903"/>
            <a:ext cx="3392424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64748B"/>
                </a:solidFill>
                <a:latin typeface="Arial"/>
              </a:rPr>
              <a:t>Scale &amp;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187952"/>
            <a:ext cx="3392424" cy="18287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Externalise state; verified containers; characterise Jetson-class hardware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Justification of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508"/>
                <a:gridCol w="1543722"/>
                <a:gridCol w="617488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54864" marR="54864" marT="27432" marB="27432">
                    <a:solidFill>
                      <a:srgbClr val="1F6FB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O1 Agent microkernel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Achieved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Kernel tests, 9 scenarios, 12-agent roster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O2 Deterministic planning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Achieved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50/50 goals, ~1 ms/plan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O3 Least privilege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Agents/tools/gate enforced; resource routes open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O4 Tiered memory + provenance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Controlled scenario, 5/5 identical chains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O5 Optional LLM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Achieved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Fallback; 23–24 tok/s measured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O6 API + dashboard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42 ops, live conversations, 6 placeholder pages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O7 Evaluation harness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293B"/>
                          </a:solidFill>
                          <a:latin typeface="Arial"/>
                        </a:rPr>
                        <a:t>Runs end-to-end; compile-only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E293B"/>
                </a:solidFill>
                <a:latin typeface="Arial"/>
              </a:rPr>
              <a:t>NOESIS is a reproducible, auditable, permission-checked kernel substrate for agent workflows.</a:t>
            </a:r>
            <a:r>
              <a:rPr sz="1600" b="0" i="0">
                <a:solidFill>
                  <a:srgbClr val="1E293B"/>
                </a:solidFill>
                <a:latin typeface="Arial"/>
              </a:rPr>
              <a:t> Its agent intelligence — not its kernel — is the main subject of future work.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46B0F9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7724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Selected; full list (47 entries) in the SRS and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464808"/>
            <a:ext cx="6858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Arial"/>
              </a:rPr>
              <a:t>NOESIS · Major Project End-Term Report · Dhruv Shah, Manan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64808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1" i="0">
                <a:solidFill>
                  <a:srgbClr val="AE36FF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926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84280" cy="5212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[9] S. Yao, J. Zhao, D. Yu, N. Du, I. Shafran, K. Narasimhan, and Y. Cao, "ReAct: Synergizing reasoning and acting in language models," in Proc. Int. Conf. Learning Representations (ICLR), 2023, arXiv:2210.03629.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[13] Q. Wu et al., "AutoGen: Enabling next-gen LLM applications via multi-agent conversation," arXiv:2308.08155, 2023.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[14] S. Hong et al., "MetaGPT: Meta programming for a multi-agent collaborative framework," in Proc. Int. Conf. Learning Representations (ICLR), 2024, arXiv:2308.00352.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[7] C. Packer, S. Wooders, K. Lin, V. Fang, S. G. Patil, I. Stoica, and J. E. Gonzalez, "MemGPT: Towards LLMs as operating systems," arXiv:2310.08560, 2023.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[8] K. Mei, Z. Li, S. Xu, R. Ye, Y. Ge, and Y. Zhang, "AIOS: LLM agent operating system," arXiv:2403.16971, 2024.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[2] J. B. Dennis and E. C. Van Horn, "Programming semantics for multiprogrammed computations," Communications of the ACM, vol. 9, no. 3, pp. 143–155, 1966, doi: 10.1145/365230.365252.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[3] J. H. Saltzer and M. D. Schroeder, "The protection of information in computer systems," Proceedings of the IEEE, vol. 63, no. 9, pp. 1278–1308, 1975, doi: 10.1109/PROC.1975.9939.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[4] M. S. Miller, K.-P. Yee, and J. Shapiro, "Capability myths demolished," Systems Research Laboratory, Johns Hopkins University, Tech. Rep. SRL2003-02, 2003.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[1] R. C. Atkinson and R. M. Shiffrin, "Human memory: A proposed system and its control processes," in The Psychology of Learning and Motivation, vol. 2, K. W. Spence and J. T. Spence, Eds. New York: Academic Press, 1968, pp. 89–195, doi: 10.1016/S0079-7421(08)60422-3.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[20] S. Robertson and H. Zaragoza, "The probabilistic relevance framework: BM25 and beyond," Foundations and Trends in Information Retrieval, vol. 3, no. 4, pp. 333–389, 2009, doi: 10.1561/1500000019.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[21] G. V. Cormack, C. L. A. Clarke, and S. Büttcher, "Reciprocal rank fusion outperforms Condorcet and individual rank learning methods," in Proc. 32nd Int. ACM SIGIR Conf., 2009, pp. 758–759, doi: 10.1145/1571941.1572114.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[23] M. Chen et al., "Evaluating large language models trained on code," arXiv:2107.03374, 2021.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[24] J. Austin et al., "Program synthesis with large language models," arXiv:2108.07732, 2021.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[26] B. Hui et al., "Qwen2.5-Coder technical report," arXiv:2409.12186, 2024.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rial"/>
              </a:rPr>
              <a:t>[27] K. Greshake, S. Abdelnabi, S. Mishra, C. Endres, T. Holz, and M. Fritz, "Not what you've signed up for: Compromising real-world LLM-integrated applications with indirect prompt injection," in Proc. 16th ACM Workshop on Artificial Intelligence and Security (AISec), 2023, arXiv:2302.12173.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489204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AE36FF"/>
                </a:solidFill>
                <a:latin typeface="Arial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40680"/>
            <a:ext cx="94183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Arial"/>
              </a:rPr>
              <a:t>Documentation package: SRS v1.0 · Major Project Report · this deck · evidence (tests, measurements, screenshots)</a:t>
            </a:r>
          </a:p>
        </p:txBody>
      </p:sp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12293</TotalTime>
  <Words>153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Bhagwant Singh</cp:lastModifiedBy>
  <cp:revision>571</cp:revision>
  <dcterms:created xsi:type="dcterms:W3CDTF">2021-05-06T09:42:21Z</dcterms:created>
  <dcterms:modified xsi:type="dcterms:W3CDTF">2022-03-17T06:55:53Z</dcterms:modified>
</cp:coreProperties>
</file>