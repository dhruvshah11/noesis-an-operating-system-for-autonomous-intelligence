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75" r:id="rId10"/>
    <p:sldId id="265" r:id="rId11"/>
    <p:sldId id="268" r:id="rId12"/>
    <p:sldId id="271" r:id="rId13"/>
    <p:sldId id="269" r:id="rId14"/>
    <p:sldId id="267" r:id="rId15"/>
    <p:sldId id="272" r:id="rId16"/>
    <p:sldId id="273" r:id="rId17"/>
    <p:sldId id="274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3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9351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1952" y="0"/>
            <a:ext cx="2670048" cy="107899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" y="109727"/>
            <a:ext cx="1188672" cy="15721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56032" y="2243872"/>
            <a:ext cx="116768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46B0FA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NOESIS</a:t>
            </a:r>
            <a:endParaRPr lang="en-US" sz="9600" dirty="0">
              <a:latin typeface="Bahnschrift SemiBold" panose="020B0502040204020203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097280" y="3437164"/>
            <a:ext cx="999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Operating System Kernel for Autonomous Multi-Agent Intelligence</a:t>
            </a:r>
            <a:endParaRPr lang="en-US" sz="2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0AEE7D-DB41-F214-A41E-6F218BFC95B0}"/>
              </a:ext>
            </a:extLst>
          </p:cNvPr>
          <p:cNvSpPr txBox="1"/>
          <p:nvPr/>
        </p:nvSpPr>
        <p:spPr>
          <a:xfrm>
            <a:off x="3047157" y="3981232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i="1" dirty="0" err="1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νόησις</a:t>
            </a:r>
            <a:r>
              <a:rPr lang="en-US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i="1" dirty="0" err="1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νους</a:t>
            </a:r>
            <a:r>
              <a:rPr lang="en-US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μνήμη  —  Intellection · Mind · Memory</a:t>
            </a:r>
            <a:endParaRPr lang="en-US" dirty="0"/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id="{556E5713-9E49-4419-D1C8-6987808C14AA}"/>
              </a:ext>
            </a:extLst>
          </p:cNvPr>
          <p:cNvSpPr txBox="1"/>
          <p:nvPr/>
        </p:nvSpPr>
        <p:spPr>
          <a:xfrm>
            <a:off x="150501" y="5720166"/>
            <a:ext cx="31742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Presented by:</a:t>
            </a:r>
          </a:p>
          <a:p>
            <a:r>
              <a:rPr lang="en-IN" dirty="0"/>
              <a:t>500118979  - Dhruv Shah</a:t>
            </a:r>
          </a:p>
          <a:p>
            <a:r>
              <a:rPr lang="en-IN" dirty="0"/>
              <a:t>500123471  - Manan Nasa</a:t>
            </a:r>
          </a:p>
          <a:p>
            <a:endParaRPr lang="en-IN" dirty="0"/>
          </a:p>
        </p:txBody>
      </p:sp>
      <p:sp>
        <p:nvSpPr>
          <p:cNvPr id="38" name="TextBox 8">
            <a:extLst>
              <a:ext uri="{FF2B5EF4-FFF2-40B4-BE49-F238E27FC236}">
                <a16:creationId xmlns:a16="http://schemas.microsoft.com/office/drawing/2014/main" id="{83087E7A-4505-2A31-0C65-48B9B497812A}"/>
              </a:ext>
            </a:extLst>
          </p:cNvPr>
          <p:cNvSpPr txBox="1"/>
          <p:nvPr/>
        </p:nvSpPr>
        <p:spPr>
          <a:xfrm>
            <a:off x="9867218" y="5997166"/>
            <a:ext cx="2717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Mentored By:</a:t>
            </a:r>
          </a:p>
          <a:p>
            <a:r>
              <a:rPr lang="en-IN" dirty="0"/>
              <a:t>Dr. Archana Kumari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6719" y="448056"/>
            <a:ext cx="1005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—  </a:t>
            </a:r>
          </a:p>
          <a:p>
            <a:pPr marL="0" indent="0" algn="l">
              <a:buNone/>
            </a:pPr>
            <a:r>
              <a:rPr lang="en-US" sz="27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NOESIS?</a:t>
            </a:r>
            <a:endParaRPr lang="en-US" sz="2700" dirty="0"/>
          </a:p>
        </p:txBody>
      </p:sp>
      <p:sp>
        <p:nvSpPr>
          <p:cNvPr id="8" name="Shape 4"/>
          <p:cNvSpPr/>
          <p:nvPr/>
        </p:nvSpPr>
        <p:spPr>
          <a:xfrm>
            <a:off x="6583680" y="1261872"/>
            <a:ext cx="5376672" cy="1161288"/>
          </a:xfrm>
          <a:prstGeom prst="roundRect">
            <a:avLst>
              <a:gd name="adj" fmla="val 6299"/>
            </a:avLst>
          </a:prstGeom>
          <a:solidFill>
            <a:srgbClr val="EFF6FF"/>
          </a:solidFill>
          <a:ln w="1524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583680" y="1261872"/>
            <a:ext cx="45720" cy="1161288"/>
          </a:xfrm>
          <a:prstGeom prst="rect">
            <a:avLst/>
          </a:prstGeom>
          <a:solidFill>
            <a:srgbClr val="46B0FA"/>
          </a:solidFill>
          <a:ln w="1270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748272" y="1353312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748272" y="1664208"/>
            <a:ext cx="5138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operating-system-inspired orchestration kernel for autonomous multi-agent AI. Provides typed agent lifecycle, hierarchical memory, capability-based security, and deterministic execution within a single substrate.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583680" y="2514600"/>
            <a:ext cx="5376672" cy="1161288"/>
          </a:xfrm>
          <a:prstGeom prst="roundRect">
            <a:avLst>
              <a:gd name="adj" fmla="val 6299"/>
            </a:avLst>
          </a:prstGeom>
          <a:solidFill>
            <a:srgbClr val="EDE9FE"/>
          </a:solidFill>
          <a:ln w="1524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6583680" y="2514600"/>
            <a:ext cx="45720" cy="11612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748272" y="2606040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748272" y="2916936"/>
            <a:ext cx="5138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natural-language goal and capability token are submitted. The kernel decomposes the goal into a task DAG, delegates execution to 12 typed specialist agents in deterministic order, enforces security gates at every step, and returns a verified, auditable typed report.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583680" y="3767328"/>
            <a:ext cx="5376672" cy="1161288"/>
          </a:xfrm>
          <a:prstGeom prst="roundRect">
            <a:avLst>
              <a:gd name="adj" fmla="val 6299"/>
            </a:avLst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583680" y="3767328"/>
            <a:ext cx="45720" cy="1161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748272" y="3858768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Context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748272" y="4169664"/>
            <a:ext cx="5138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automation · Research synthesis requiring citation provenance · Workflows with auditability requirements · Edge inference on local hardware without recurring cloud API costs.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583680" y="5020056"/>
            <a:ext cx="5376672" cy="1161288"/>
          </a:xfrm>
          <a:prstGeom prst="roundRect">
            <a:avLst>
              <a:gd name="adj" fmla="val 6299"/>
            </a:avLst>
          </a:prstGeom>
          <a:solidFill>
            <a:srgbClr val="DCFCE7"/>
          </a:solidFill>
          <a:ln w="1524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583680" y="5020056"/>
            <a:ext cx="45720" cy="116128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748272" y="5111496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748272" y="5422392"/>
            <a:ext cx="5138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implementation completed: 12 typed agents, 256 passing tests, 31 API endpoints, 71.9% test coverage, Next.js dashboard , Benchmark evaluation and Jetson edge deployment are ongoing work.</a:t>
            </a:r>
            <a:endParaRPr lang="en-US" sz="11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5E0552E-9568-8031-CA22-B58166AC8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" y="1529334"/>
            <a:ext cx="6439662" cy="42931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" y="82296"/>
            <a:ext cx="11996928" cy="6684264"/>
          </a:xfrm>
          <a:prstGeom prst="rect">
            <a:avLst/>
          </a:prstGeom>
          <a:solidFill>
            <a:srgbClr val="FFFFFF"/>
          </a:solidFill>
          <a:ln w="19050">
            <a:solidFill>
              <a:srgbClr val="46B0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184" y="318407"/>
            <a:ext cx="1005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 —  </a:t>
            </a:r>
          </a:p>
          <a:p>
            <a:pPr marL="0" indent="0" algn="l">
              <a:buNone/>
            </a:pPr>
            <a:r>
              <a:rPr lang="en-US" sz="27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Kernel-Level Multi-Agent AI?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29184" y="9875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converging observations motivate a kernel-level approach to multi-agent orchestration in 2026.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89204" y="1325880"/>
            <a:ext cx="3657600" cy="4343400"/>
          </a:xfrm>
          <a:prstGeom prst="roundRect">
            <a:avLst>
              <a:gd name="adj" fmla="val 2500"/>
            </a:avLst>
          </a:prstGeom>
          <a:solidFill>
            <a:srgbClr val="FEE2E2"/>
          </a:solidFill>
          <a:ln w="1905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89204" y="1325880"/>
            <a:ext cx="3657600" cy="45720"/>
          </a:xfrm>
          <a:prstGeom prst="rect">
            <a:avLst/>
          </a:prstGeom>
          <a:solidFill>
            <a:srgbClr val="C92020"/>
          </a:solidFill>
          <a:ln w="1270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9204" y="149047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C9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~74%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626364" y="242316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LLM-agent pilots discontinued due to reliability concerns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90372" y="3063240"/>
            <a:ext cx="3255264" cy="1828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26364" y="3154680"/>
            <a:ext cx="3383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Reliability, auditability, and reproducibility are reported as primary barriers to enterprise deployment of autonomous AI agents. System-level orchestration guarantees remain an open research challenge. (Gartner, 2025)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65676" y="1325880"/>
            <a:ext cx="3657600" cy="4343400"/>
          </a:xfrm>
          <a:prstGeom prst="roundRect">
            <a:avLst>
              <a:gd name="adj" fmla="val 25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265676" y="1325880"/>
            <a:ext cx="3657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265676" y="149047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5600" dirty="0"/>
          </a:p>
        </p:txBody>
      </p:sp>
      <p:sp>
        <p:nvSpPr>
          <p:cNvPr id="15" name="Text 12"/>
          <p:cNvSpPr/>
          <p:nvPr/>
        </p:nvSpPr>
        <p:spPr>
          <a:xfrm>
            <a:off x="4402836" y="242316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eliminates recurring cloud API token cost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466844" y="3063240"/>
            <a:ext cx="3255264" cy="1828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402836" y="3154680"/>
            <a:ext cx="3383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Quantised models (e.g., Qwen2.5-Coder-7B Q4) run at 10–14 tok/s on low-power edge hardware ($139 Jetson Orin Nano). This removes a significant barrier to agent deployment in resource-constrained or air-gapped environments.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042148" y="1325880"/>
            <a:ext cx="3657600" cy="4343400"/>
          </a:xfrm>
          <a:prstGeom prst="roundRect">
            <a:avLst>
              <a:gd name="adj" fmla="val 2500"/>
            </a:avLst>
          </a:prstGeom>
          <a:solidFill>
            <a:srgbClr val="EFF6FF"/>
          </a:solidFill>
          <a:ln w="1905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42148" y="1325880"/>
            <a:ext cx="3657600" cy="45720"/>
          </a:xfrm>
          <a:prstGeom prst="rect">
            <a:avLst/>
          </a:prstGeom>
          <a:solidFill>
            <a:srgbClr val="46B0FA"/>
          </a:solidFill>
          <a:ln w="1270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042148" y="149047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50yr</a:t>
            </a:r>
            <a:endParaRPr lang="en-US" sz="5600" dirty="0"/>
          </a:p>
        </p:txBody>
      </p:sp>
      <p:sp>
        <p:nvSpPr>
          <p:cNvPr id="21" name="Text 18"/>
          <p:cNvSpPr/>
          <p:nvPr/>
        </p:nvSpPr>
        <p:spPr>
          <a:xfrm>
            <a:off x="8179308" y="242316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OS design provides relevant, proven engineering primitives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243316" y="3063240"/>
            <a:ext cx="3255264" cy="1828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179308" y="3154680"/>
            <a:ext cx="3383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spawn/join semantics [9], capability-based access control [10], and memory hierarchy are conceptual inspirations for NOESIS. System-level orchestration, security, and reproducibility for AI agents remain important open challenges.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256032" y="5833872"/>
            <a:ext cx="11676888" cy="658368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524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38912" y="5833872"/>
            <a:ext cx="11311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D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"System-level orchestration, security, and reproducibility remain important challenges for autonomous multi-agent AI workflows."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" y="82296"/>
            <a:ext cx="11996928" cy="6684264"/>
          </a:xfrm>
          <a:prstGeom prst="rect">
            <a:avLst/>
          </a:prstGeom>
          <a:solidFill>
            <a:srgbClr val="FFFFFF"/>
          </a:solidFill>
          <a:ln w="19050">
            <a:solidFill>
              <a:srgbClr val="46B0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184" y="219456"/>
            <a:ext cx="1005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9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 —  Research Gaps in Multi-Agent AI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29184" y="83210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multi-agent frameworks do not natively provide the complete set of kernel-level guarantees targeted by NOESIS.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56032" y="1389888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EF3C7"/>
          </a:solidFill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56032" y="1389888"/>
            <a:ext cx="5486400" cy="45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15544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8912" y="20482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limitation: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38912" y="2249424"/>
            <a:ext cx="5138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Predominantly retrieval-oriented (flat vector) memory with limited long-term retention management across agent boundaries.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38912" y="2670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38912" y="2852928"/>
            <a:ext cx="5138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hierarchical memory lifecycle management for sustained multi-step agentic workflows.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20624" y="3383280"/>
            <a:ext cx="515721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93776" y="33832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NOESIS approach → 6-tier Νόησις memory with structured promotion and SHA-256 provenance  (C3)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833872" y="1389888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EE2E2"/>
          </a:solidFill>
          <a:ln w="1905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833872" y="1389888"/>
            <a:ext cx="5486400" cy="45720"/>
          </a:xfrm>
          <a:prstGeom prst="rect">
            <a:avLst/>
          </a:prstGeom>
          <a:solidFill>
            <a:srgbClr val="C92020"/>
          </a:solidFill>
          <a:ln w="1270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92240" y="15544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Security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016752" y="20482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limitation: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016752" y="2249424"/>
            <a:ext cx="5138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Framework-level access control; no formal capability inheritance model at the agent spawn boundary.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016752" y="2670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16752" y="2852928"/>
            <a:ext cx="5138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kernel-level capability isolation and deny-first enforcement for spawned sub-agents.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998464" y="3383280"/>
            <a:ext cx="515721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071616" y="33832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NOESIS approach → AND-mask capability token inheritance with typed PermissionDenied  (C1)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56032" y="3950208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EDE9FE"/>
          </a:solidFill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256032" y="3950208"/>
            <a:ext cx="5486400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14400" y="41148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Execution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38912" y="46085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limitation: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38912" y="4809744"/>
            <a:ext cx="5138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LLM sampling makes exact replay difficult across identical inputs without explicit seeding.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38912" y="52303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38912" y="5413248"/>
            <a:ext cx="5138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guarantee reproducible execution traces, complicating debugging, auditing, and regression testing.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20624" y="5943600"/>
            <a:ext cx="515721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93776" y="59436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NOESIS approach → Fixed-seed deterministic orchestration with immutable audit trace  (C2)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833872" y="3950208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5833872" y="3950208"/>
            <a:ext cx="54864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492240" y="41148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Lifecycle Control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016752" y="46085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limitation: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016752" y="4809744"/>
            <a:ext cx="5138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Workflow-level orchestration without kernel-level spawn, join, checkpoint, or resume primitives.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016752" y="52303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016752" y="5413248"/>
            <a:ext cx="5138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recovery mechanisms for multi-step workflows interrupted by transient failures.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5998464" y="5943600"/>
            <a:ext cx="515721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071616" y="59436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NOESIS approach → Kernel-level lifecycle hooks: spawn / join / checkpoint / resume  (C2+C3)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" y="82296"/>
            <a:ext cx="11996928" cy="6684264"/>
          </a:xfrm>
          <a:prstGeom prst="rect">
            <a:avLst/>
          </a:prstGeom>
          <a:solidFill>
            <a:srgbClr val="FFFFFF"/>
          </a:solidFill>
          <a:ln w="19050">
            <a:solidFill>
              <a:srgbClr val="46B0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184" y="219456"/>
            <a:ext cx="1005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 —  System-Level Analysis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29184" y="83210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Four-axis gap analysis motivating the NOESIS kernel research contribution.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56032" y="1353312"/>
            <a:ext cx="1664208" cy="475488"/>
          </a:xfrm>
          <a:prstGeom prst="roundRect">
            <a:avLst>
              <a:gd name="adj" fmla="val 9615"/>
            </a:avLst>
          </a:prstGeom>
          <a:solidFill>
            <a:srgbClr val="F1F5F9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29184" y="1353312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Aspect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993392" y="1353312"/>
            <a:ext cx="3182112" cy="475488"/>
          </a:xfrm>
          <a:prstGeom prst="roundRect">
            <a:avLst>
              <a:gd name="adj" fmla="val 9615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066544" y="1353312"/>
            <a:ext cx="3035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(Conventional Frameworks)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248656" y="1353312"/>
            <a:ext cx="2999232" cy="475488"/>
          </a:xfrm>
          <a:prstGeom prst="roundRect">
            <a:avLst>
              <a:gd name="adj" fmla="val 9615"/>
            </a:avLst>
          </a:prstGeom>
          <a:solidFill>
            <a:srgbClr val="FEE2E2"/>
          </a:solidFill>
          <a:ln w="1270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321808" y="1353312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321040" y="1353312"/>
            <a:ext cx="3547872" cy="475488"/>
          </a:xfrm>
          <a:prstGeom prst="roundRect">
            <a:avLst>
              <a:gd name="adj" fmla="val 9615"/>
            </a:avLst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394192" y="1353312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NOESIS Contribution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6032" y="1920240"/>
            <a:ext cx="1664208" cy="930402"/>
          </a:xfrm>
          <a:prstGeom prst="rect">
            <a:avLst/>
          </a:prstGeom>
          <a:solidFill>
            <a:srgbClr val="F8FAFC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29184" y="1920240"/>
            <a:ext cx="15179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993392" y="1920240"/>
            <a:ext cx="3182112" cy="930402"/>
          </a:xfrm>
          <a:prstGeom prst="rect">
            <a:avLst/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066544" y="1920240"/>
            <a:ext cx="3035808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Predominantly retrieval-oriented (flat vector) memory; limited long-term management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248656" y="1920240"/>
            <a:ext cx="2999232" cy="930402"/>
          </a:xfrm>
          <a:prstGeom prst="rect">
            <a:avLst/>
          </a:prstGeom>
          <a:solidFill>
            <a:srgbClr val="FFF0F0"/>
          </a:solidFill>
          <a:ln w="635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321808" y="1920240"/>
            <a:ext cx="2852928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hierarchical lifecycle management for extended multi-agent workflows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321040" y="1920240"/>
            <a:ext cx="3547872" cy="930402"/>
          </a:xfrm>
          <a:prstGeom prst="rect">
            <a:avLst/>
          </a:prstGeom>
          <a:solidFill>
            <a:srgbClr val="DCFCE7"/>
          </a:solidFill>
          <a:ln w="635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394192" y="1920240"/>
            <a:ext cx="3401568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6-tier Νόησις memory with promotion controller and SHA-256 provenance (C3)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56032" y="2850642"/>
            <a:ext cx="1664208" cy="930402"/>
          </a:xfrm>
          <a:prstGeom prst="rect">
            <a:avLst/>
          </a:prstGeom>
          <a:solidFill>
            <a:srgbClr val="FFFF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29184" y="2850642"/>
            <a:ext cx="15179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D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993392" y="2850642"/>
            <a:ext cx="3182112" cy="930402"/>
          </a:xfrm>
          <a:prstGeom prst="rect">
            <a:avLst/>
          </a:prstGeom>
          <a:solidFill>
            <a:srgbClr val="FEF9EC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066544" y="2850642"/>
            <a:ext cx="3035808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and agent access governed by framework-level policies; no formal capability inheritance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248656" y="2850642"/>
            <a:ext cx="2999232" cy="930402"/>
          </a:xfrm>
          <a:prstGeom prst="rect">
            <a:avLst/>
          </a:prstGeom>
          <a:solidFill>
            <a:srgbClr val="FFF5F5"/>
          </a:solidFill>
          <a:ln w="635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321808" y="2850642"/>
            <a:ext cx="2852928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kernel-level capability isolation at the agent spawn boundary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321040" y="2850642"/>
            <a:ext cx="3547872" cy="930402"/>
          </a:xfrm>
          <a:prstGeom prst="rect">
            <a:avLst/>
          </a:prstGeom>
          <a:solidFill>
            <a:srgbClr val="F0FDF4"/>
          </a:solidFill>
          <a:ln w="635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394192" y="2850642"/>
            <a:ext cx="3401568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AND-mask capability token inheritance with deny-first policy and typed PermissionDenied (C1)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56032" y="3781044"/>
            <a:ext cx="1664208" cy="930402"/>
          </a:xfrm>
          <a:prstGeom prst="rect">
            <a:avLst/>
          </a:prstGeom>
          <a:solidFill>
            <a:srgbClr val="F8FAFC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29184" y="3781044"/>
            <a:ext cx="15179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993392" y="3781044"/>
            <a:ext cx="3182112" cy="930402"/>
          </a:xfrm>
          <a:prstGeom prst="rect">
            <a:avLst/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2066544" y="3781044"/>
            <a:ext cx="3035808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LLM execution; replay across identical inputs not guaranteed without explicit seeding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248656" y="3781044"/>
            <a:ext cx="2999232" cy="930402"/>
          </a:xfrm>
          <a:prstGeom prst="rect">
            <a:avLst/>
          </a:prstGeom>
          <a:solidFill>
            <a:srgbClr val="FFF0F0"/>
          </a:solidFill>
          <a:ln w="635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321808" y="3781044"/>
            <a:ext cx="2852928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guarantee deterministic trace for audit, debugging, or regression testing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8321040" y="3781044"/>
            <a:ext cx="3547872" cy="930402"/>
          </a:xfrm>
          <a:prstGeom prst="rect">
            <a:avLst/>
          </a:prstGeom>
          <a:solidFill>
            <a:srgbClr val="DCFCE7"/>
          </a:solidFill>
          <a:ln w="635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8394192" y="3781044"/>
            <a:ext cx="3401568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Fixed-seed deterministic orchestration producing structured, immutable audit traces (C2)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256032" y="4711446"/>
            <a:ext cx="1664208" cy="930402"/>
          </a:xfrm>
          <a:prstGeom prst="roundRect">
            <a:avLst>
              <a:gd name="adj" fmla="val 3931"/>
            </a:avLst>
          </a:prstGeom>
          <a:solidFill>
            <a:srgbClr val="FFFF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329184" y="4711446"/>
            <a:ext cx="15179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D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1993392" y="4711446"/>
            <a:ext cx="3182112" cy="930402"/>
          </a:xfrm>
          <a:prstGeom prst="roundRect">
            <a:avLst>
              <a:gd name="adj" fmla="val 3931"/>
            </a:avLst>
          </a:prstGeom>
          <a:solidFill>
            <a:srgbClr val="FEF9EC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2066544" y="4711446"/>
            <a:ext cx="3035808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Workflow-level orchestration primitives; limited checkpoint and recovery hooks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5248656" y="4711446"/>
            <a:ext cx="2999232" cy="930402"/>
          </a:xfrm>
          <a:prstGeom prst="roundRect">
            <a:avLst>
              <a:gd name="adj" fmla="val 3931"/>
            </a:avLst>
          </a:prstGeom>
          <a:solidFill>
            <a:srgbClr val="FFF5F5"/>
          </a:solidFill>
          <a:ln w="635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5321808" y="4711446"/>
            <a:ext cx="2852928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ability to spawn, join, checkpoint, or resume kernel-level agent subtrees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8321040" y="4711446"/>
            <a:ext cx="3547872" cy="930402"/>
          </a:xfrm>
          <a:prstGeom prst="roundRect">
            <a:avLst>
              <a:gd name="adj" fmla="val 3931"/>
            </a:avLst>
          </a:prstGeom>
          <a:solidFill>
            <a:srgbClr val="F0FDF4"/>
          </a:solidFill>
          <a:ln w="635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8394192" y="4711446"/>
            <a:ext cx="3401568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Kernel-level lifecycle hooks: spawn / join / checkpoint / replan / resume (C2+C3)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256032" y="5760720"/>
            <a:ext cx="11612880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524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438912" y="576072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D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Does applying operating-system-inspired primitives — capability security, deterministic execution, hierarchical memory, and lifecycle management — improve the reliability, reproducibility, security, and manageability of autonomous multi-agent AI workflows?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" y="82296"/>
            <a:ext cx="11996928" cy="6684264"/>
          </a:xfrm>
          <a:prstGeom prst="rect">
            <a:avLst/>
          </a:prstGeom>
          <a:solidFill>
            <a:srgbClr val="FFFFFF"/>
          </a:solidFill>
          <a:ln w="19050">
            <a:solidFill>
              <a:srgbClr val="46B0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184" y="219456"/>
            <a:ext cx="1005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Applications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29184" y="83210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primary application domains investigated within the NOESIS research scope.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56032" y="141732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EFF6FF"/>
          </a:solidFill>
          <a:ln w="1397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56032" y="1417320"/>
            <a:ext cx="5486400" cy="45720"/>
          </a:xfrm>
          <a:prstGeom prst="rect">
            <a:avLst/>
          </a:prstGeom>
          <a:solidFill>
            <a:srgbClr val="46B0FA"/>
          </a:solidFill>
          <a:ln w="1270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93192" y="154533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Code Engineering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93192" y="1947672"/>
            <a:ext cx="5212080" cy="13716"/>
          </a:xfrm>
          <a:prstGeom prst="rect">
            <a:avLst/>
          </a:prstGeom>
          <a:solidFill>
            <a:srgbClr val="46B0FA"/>
          </a:solidFill>
          <a:ln w="1270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38912" y="2167128"/>
            <a:ext cx="109728" cy="109728"/>
          </a:xfrm>
          <a:prstGeom prst="ellipse">
            <a:avLst/>
          </a:prstGeom>
          <a:solidFill>
            <a:srgbClr val="46B0FA"/>
          </a:solidFill>
          <a:ln w="1270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03504" y="2075688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 generation, test execution, code review, and merge.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8912" y="2496312"/>
            <a:ext cx="109728" cy="109728"/>
          </a:xfrm>
          <a:prstGeom prst="ellipse">
            <a:avLst/>
          </a:prstGeom>
          <a:solidFill>
            <a:srgbClr val="46B0FA"/>
          </a:solidFill>
          <a:ln w="1270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3504" y="2404872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audit replay enables regression testing across agent runs.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93192" y="3538728"/>
            <a:ext cx="52120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7200" y="3538728"/>
            <a:ext cx="5102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Measurable: pass@1 on HumanEval, MBPP, and SWE-bench benchmarks.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833872" y="141732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833872" y="1417320"/>
            <a:ext cx="5486400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71032" y="154533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Research Knowledge Synthesis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971032" y="1947672"/>
            <a:ext cx="5212080" cy="1371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016752" y="2167128"/>
            <a:ext cx="109728" cy="1097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181344" y="2075688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retrieval synthesis with structured citation provenance.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016752" y="2496312"/>
            <a:ext cx="109728" cy="1097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181344" y="2404872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6-tier memory supports cross-session knowledge retention.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971032" y="3538728"/>
            <a:ext cx="52120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035040" y="3538728"/>
            <a:ext cx="5102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workflows requiring traceable, citation-grounded outputs.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56032" y="416052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CCFBF1"/>
          </a:solidFill>
          <a:ln w="1397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256032" y="4160520"/>
            <a:ext cx="54864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93192" y="428853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Workflow Automation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393192" y="4690872"/>
            <a:ext cx="5212080" cy="137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38912" y="491032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03504" y="4818888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with All/Any/Majority join policies.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38912" y="523951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03504" y="5148072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Kernel-level checkpoint and resume for multi-step workflow recovery.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393192" y="6281928"/>
            <a:ext cx="52120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57200" y="6281928"/>
            <a:ext cx="5102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recovery reduces silent workflow failure in long-running tasks.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833872" y="4142232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DCFCE7"/>
          </a:solidFill>
          <a:ln w="1397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5833872" y="4160520"/>
            <a:ext cx="5486400" cy="457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971032" y="428853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— Offline Inference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5971032" y="4690872"/>
            <a:ext cx="5212080" cy="1371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6016752" y="4910328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181344" y="4818888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12-agent pipeline on NVIDIA Jetson Orin Nano (~$600 hardware).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6016752" y="5239512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6181344" y="5148072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recurring cloud API token cost; operates offline in air-gapped environments.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5971032" y="6281928"/>
            <a:ext cx="52120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035040" y="6281928"/>
            <a:ext cx="5102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full pipeline at 10–14 tok/s with 7–15 W power consumption.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184" y="219456"/>
            <a:ext cx="1005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Processing, Output &amp; Evaluation Framework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29184" y="83210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structure and proposed evaluation methodology. Baseline values from literature; target values are experimental goals.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56032" y="1261872"/>
            <a:ext cx="1915668" cy="960120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 w="1524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29184" y="1335024"/>
            <a:ext cx="17693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r>
              <a:rPr lang="en-US" sz="1400" dirty="0"/>
              <a:t> </a:t>
            </a:r>
            <a:r>
              <a:rPr lang="en-US" sz="14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9184" y="1764792"/>
            <a:ext cx="17693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task description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71700" y="1650492"/>
            <a:ext cx="82296" cy="182880"/>
          </a:xfrm>
          <a:prstGeom prst="rightArrow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08276" y="1261872"/>
            <a:ext cx="1915668" cy="960120"/>
          </a:xfrm>
          <a:prstGeom prst="roundRect">
            <a:avLst>
              <a:gd name="adj" fmla="val 5714"/>
            </a:avLst>
          </a:prstGeom>
          <a:solidFill>
            <a:srgbClr val="EDE9FE"/>
          </a:solidFill>
          <a:ln w="1524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281428" y="1335024"/>
            <a:ext cx="17693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r>
              <a:rPr lang="en-US" sz="1400" dirty="0"/>
              <a:t> </a:t>
            </a: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281428" y="1764792"/>
            <a:ext cx="17693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SPAWN_AGENT:*, </a:t>
            </a:r>
            <a:r>
              <a:rPr lang="en-US" sz="1000" i="1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TOOL_INVOKE:files</a:t>
            </a: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23944" y="1650492"/>
            <a:ext cx="82296" cy="182880"/>
          </a:xfrm>
          <a:prstGeom prst="rightArrow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160520" y="1261872"/>
            <a:ext cx="1915668" cy="960120"/>
          </a:xfrm>
          <a:prstGeom prst="roundRect">
            <a:avLst>
              <a:gd name="adj" fmla="val 5714"/>
            </a:avLst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233672" y="1335024"/>
            <a:ext cx="17693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DAG</a:t>
            </a:r>
            <a:r>
              <a:rPr lang="en-US" sz="1400" dirty="0"/>
              <a:t> </a:t>
            </a: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233672" y="1764792"/>
            <a:ext cx="17693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Kahn-sorted execution graph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76188" y="1650492"/>
            <a:ext cx="82296" cy="182880"/>
          </a:xfrm>
          <a:prstGeom prst="rightArrow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112764" y="1261872"/>
            <a:ext cx="1915668" cy="960120"/>
          </a:xfrm>
          <a:prstGeom prst="roundRect">
            <a:avLst>
              <a:gd name="adj" fmla="val 5714"/>
            </a:avLst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185916" y="1335024"/>
            <a:ext cx="17693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12-Agent</a:t>
            </a:r>
            <a:r>
              <a:rPr lang="en-US" sz="1400" dirty="0"/>
              <a:t> </a:t>
            </a: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185916" y="1764792"/>
            <a:ext cx="17693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seeded, typed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028432" y="1650492"/>
            <a:ext cx="82296" cy="182880"/>
          </a:xfrm>
          <a:prstGeom prst="rightArrow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065008" y="1261872"/>
            <a:ext cx="1915668" cy="960120"/>
          </a:xfrm>
          <a:prstGeom prst="roundRect">
            <a:avLst>
              <a:gd name="adj" fmla="val 5714"/>
            </a:avLst>
          </a:prstGeom>
          <a:solidFill>
            <a:srgbClr val="FEE2E2"/>
          </a:solidFill>
          <a:ln w="1524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138160" y="1335024"/>
            <a:ext cx="17693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r>
              <a:rPr lang="en-US" sz="1400" dirty="0"/>
              <a:t> </a:t>
            </a:r>
            <a:r>
              <a:rPr lang="en-US" sz="1400" b="1" dirty="0">
                <a:solidFill>
                  <a:srgbClr val="C9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Replan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138160" y="1764792"/>
            <a:ext cx="17693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CriticAgent + ExecutorAgent gate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9980676" y="1650492"/>
            <a:ext cx="82296" cy="182880"/>
          </a:xfrm>
          <a:prstGeom prst="rightArrow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10017252" y="1261872"/>
            <a:ext cx="1915668" cy="96012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524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0090404" y="1335024"/>
            <a:ext cx="17693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</a:t>
            </a:r>
            <a:r>
              <a:rPr lang="en-US" sz="1400" dirty="0"/>
              <a:t> </a:t>
            </a: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0090404" y="1764792"/>
            <a:ext cx="17693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report + SHA-256 trace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6199632" y="2395728"/>
            <a:ext cx="5733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 Evaluation Metrics</a:t>
            </a:r>
            <a:endParaRPr lang="en-US" sz="1250" dirty="0"/>
          </a:p>
        </p:txBody>
      </p:sp>
      <p:sp>
        <p:nvSpPr>
          <p:cNvPr id="55" name="Shape 52"/>
          <p:cNvSpPr/>
          <p:nvPr/>
        </p:nvSpPr>
        <p:spPr>
          <a:xfrm>
            <a:off x="6199632" y="2724912"/>
            <a:ext cx="5733288" cy="6858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6364224" y="27980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Consistency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9893808" y="2816352"/>
            <a:ext cx="826618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9525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9930384" y="2807208"/>
            <a:ext cx="7534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6364224" y="30540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deterministic runs with bit-exact output across identical seeds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6199632" y="3483864"/>
            <a:ext cx="5733288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6364224" y="35570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Unauthorised Action Rejection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9893808" y="3575304"/>
            <a:ext cx="826618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9525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9930384" y="3566160"/>
            <a:ext cx="7534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6364224" y="3813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correct PermissionDenied responses to capability-violating requests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6199632" y="4242816"/>
            <a:ext cx="5733288" cy="6858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6364224" y="43159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Completion Rate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9893808" y="4334256"/>
            <a:ext cx="826618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9525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9930384" y="4325112"/>
            <a:ext cx="7534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6364224" y="4572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multi-step workflows completing without silent failure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6199632" y="5001768"/>
            <a:ext cx="5733288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6364224" y="50749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9893808" y="5093208"/>
            <a:ext cx="826618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9525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9930384" y="5084064"/>
            <a:ext cx="7534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74" name="Text 71"/>
          <p:cNvSpPr/>
          <p:nvPr/>
        </p:nvSpPr>
        <p:spPr>
          <a:xfrm>
            <a:off x="6364224" y="5330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time from goal submission to audited report, p50/p95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6199632" y="5760720"/>
            <a:ext cx="5733288" cy="6858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6364224" y="58338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Consumption</a:t>
            </a:r>
            <a:endParaRPr lang="en-US" sz="1000" dirty="0"/>
          </a:p>
        </p:txBody>
      </p:sp>
      <p:sp>
        <p:nvSpPr>
          <p:cNvPr id="77" name="Shape 74"/>
          <p:cNvSpPr/>
          <p:nvPr/>
        </p:nvSpPr>
        <p:spPr>
          <a:xfrm>
            <a:off x="9893808" y="5852160"/>
            <a:ext cx="826618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9525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5"/>
          <p:cNvSpPr/>
          <p:nvPr/>
        </p:nvSpPr>
        <p:spPr>
          <a:xfrm>
            <a:off x="9930384" y="5843016"/>
            <a:ext cx="7534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6364224" y="60899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GPU power draw during 12-agent pipeline on Jetson hardware</a:t>
            </a:r>
            <a:endParaRPr lang="en-US" sz="900" dirty="0"/>
          </a:p>
        </p:txBody>
      </p:sp>
      <p:sp>
        <p:nvSpPr>
          <p:cNvPr id="81" name="Text 25">
            <a:extLst>
              <a:ext uri="{FF2B5EF4-FFF2-40B4-BE49-F238E27FC236}">
                <a16:creationId xmlns:a16="http://schemas.microsoft.com/office/drawing/2014/main" id="{8E4400A8-43B6-6F70-58D6-6C24900E40D2}"/>
              </a:ext>
            </a:extLst>
          </p:cNvPr>
          <p:cNvSpPr/>
          <p:nvPr/>
        </p:nvSpPr>
        <p:spPr>
          <a:xfrm>
            <a:off x="275991" y="2384090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Benchmarks</a:t>
            </a:r>
            <a:endParaRPr lang="en-US" sz="1300" dirty="0"/>
          </a:p>
        </p:txBody>
      </p:sp>
      <p:sp>
        <p:nvSpPr>
          <p:cNvPr id="83" name="Shape 26">
            <a:extLst>
              <a:ext uri="{FF2B5EF4-FFF2-40B4-BE49-F238E27FC236}">
                <a16:creationId xmlns:a16="http://schemas.microsoft.com/office/drawing/2014/main" id="{0F60D650-2842-2ECF-9CA8-D57B4F1D5439}"/>
              </a:ext>
            </a:extLst>
          </p:cNvPr>
          <p:cNvSpPr/>
          <p:nvPr/>
        </p:nvSpPr>
        <p:spPr>
          <a:xfrm>
            <a:off x="275991" y="2650098"/>
            <a:ext cx="5833872" cy="722376"/>
          </a:xfrm>
          <a:prstGeom prst="roundRect">
            <a:avLst>
              <a:gd name="adj" fmla="val 7080"/>
            </a:avLst>
          </a:prstGeom>
          <a:solidFill>
            <a:srgbClr val="EFF6FF"/>
          </a:solidFill>
          <a:ln w="13970">
            <a:solidFill>
              <a:srgbClr val="46B0FA"/>
            </a:solidFill>
            <a:prstDash val="solid"/>
          </a:ln>
        </p:spPr>
      </p:sp>
      <p:sp>
        <p:nvSpPr>
          <p:cNvPr id="85" name="Text 27">
            <a:extLst>
              <a:ext uri="{FF2B5EF4-FFF2-40B4-BE49-F238E27FC236}">
                <a16:creationId xmlns:a16="http://schemas.microsoft.com/office/drawing/2014/main" id="{065124C6-203A-8D8D-5107-42D1125E6881}"/>
              </a:ext>
            </a:extLst>
          </p:cNvPr>
          <p:cNvSpPr/>
          <p:nvPr/>
        </p:nvSpPr>
        <p:spPr>
          <a:xfrm>
            <a:off x="413151" y="2641785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</a:t>
            </a:r>
            <a:endParaRPr lang="en-US" sz="1250" dirty="0"/>
          </a:p>
        </p:txBody>
      </p:sp>
      <p:sp>
        <p:nvSpPr>
          <p:cNvPr id="87" name="Text 28">
            <a:extLst>
              <a:ext uri="{FF2B5EF4-FFF2-40B4-BE49-F238E27FC236}">
                <a16:creationId xmlns:a16="http://schemas.microsoft.com/office/drawing/2014/main" id="{75CBF956-A11E-B518-DFCF-44D8B453C9FA}"/>
              </a:ext>
            </a:extLst>
          </p:cNvPr>
          <p:cNvSpPr/>
          <p:nvPr/>
        </p:nvSpPr>
        <p:spPr>
          <a:xfrm>
            <a:off x="413151" y="2952681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 code problems</a:t>
            </a:r>
            <a:endParaRPr lang="en-US" sz="950" dirty="0"/>
          </a:p>
        </p:txBody>
      </p:sp>
      <p:sp>
        <p:nvSpPr>
          <p:cNvPr id="89" name="Shape 29">
            <a:extLst>
              <a:ext uri="{FF2B5EF4-FFF2-40B4-BE49-F238E27FC236}">
                <a16:creationId xmlns:a16="http://schemas.microsoft.com/office/drawing/2014/main" id="{3C1B1057-1F7D-3B2A-86B8-C7C1B9E73EE4}"/>
              </a:ext>
            </a:extLst>
          </p:cNvPr>
          <p:cNvSpPr/>
          <p:nvPr/>
        </p:nvSpPr>
        <p:spPr>
          <a:xfrm>
            <a:off x="2561991" y="2733225"/>
            <a:ext cx="33832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91" name="Shape 30">
            <a:extLst>
              <a:ext uri="{FF2B5EF4-FFF2-40B4-BE49-F238E27FC236}">
                <a16:creationId xmlns:a16="http://schemas.microsoft.com/office/drawing/2014/main" id="{A317D28F-EF64-0CC0-353D-08D3C623B076}"/>
              </a:ext>
            </a:extLst>
          </p:cNvPr>
          <p:cNvSpPr/>
          <p:nvPr/>
        </p:nvSpPr>
        <p:spPr>
          <a:xfrm>
            <a:off x="2561991" y="2733225"/>
            <a:ext cx="2097634" cy="256032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3" name="Shape 31">
            <a:extLst>
              <a:ext uri="{FF2B5EF4-FFF2-40B4-BE49-F238E27FC236}">
                <a16:creationId xmlns:a16="http://schemas.microsoft.com/office/drawing/2014/main" id="{34451806-3017-7230-2111-3293DF2C8D77}"/>
              </a:ext>
            </a:extLst>
          </p:cNvPr>
          <p:cNvSpPr/>
          <p:nvPr/>
        </p:nvSpPr>
        <p:spPr>
          <a:xfrm>
            <a:off x="2561991" y="2733225"/>
            <a:ext cx="2368296" cy="256032"/>
          </a:xfrm>
          <a:prstGeom prst="roundRect">
            <a:avLst>
              <a:gd name="adj" fmla="val 50000"/>
            </a:avLst>
          </a:prstGeom>
          <a:solidFill>
            <a:srgbClr val="46B0FA"/>
          </a:solidFill>
          <a:ln w="12700">
            <a:solidFill>
              <a:srgbClr val="46B0FA"/>
            </a:solidFill>
            <a:prstDash val="solid"/>
          </a:ln>
        </p:spPr>
      </p:sp>
      <p:sp>
        <p:nvSpPr>
          <p:cNvPr id="95" name="Text 32">
            <a:extLst>
              <a:ext uri="{FF2B5EF4-FFF2-40B4-BE49-F238E27FC236}">
                <a16:creationId xmlns:a16="http://schemas.microsoft.com/office/drawing/2014/main" id="{2F80078B-66A8-5C2B-937C-8D9EE8637D73}"/>
              </a:ext>
            </a:extLst>
          </p:cNvPr>
          <p:cNvSpPr/>
          <p:nvPr/>
        </p:nvSpPr>
        <p:spPr>
          <a:xfrm>
            <a:off x="2561991" y="3025833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62%</a:t>
            </a:r>
            <a:endParaRPr lang="en-US" sz="900" dirty="0"/>
          </a:p>
        </p:txBody>
      </p:sp>
      <p:sp>
        <p:nvSpPr>
          <p:cNvPr id="97" name="Text 33">
            <a:extLst>
              <a:ext uri="{FF2B5EF4-FFF2-40B4-BE49-F238E27FC236}">
                <a16:creationId xmlns:a16="http://schemas.microsoft.com/office/drawing/2014/main" id="{12B6AF45-E07D-8085-8D50-1E166D670A59}"/>
              </a:ext>
            </a:extLst>
          </p:cNvPr>
          <p:cNvSpPr/>
          <p:nvPr/>
        </p:nvSpPr>
        <p:spPr>
          <a:xfrm>
            <a:off x="3979311" y="3025833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70%  +8% pass@1</a:t>
            </a:r>
            <a:endParaRPr lang="en-US" sz="900" dirty="0"/>
          </a:p>
        </p:txBody>
      </p:sp>
      <p:sp>
        <p:nvSpPr>
          <p:cNvPr id="99" name="Shape 34">
            <a:extLst>
              <a:ext uri="{FF2B5EF4-FFF2-40B4-BE49-F238E27FC236}">
                <a16:creationId xmlns:a16="http://schemas.microsoft.com/office/drawing/2014/main" id="{CAB541A0-C7C0-1F6D-1FED-C3DB6CED9350}"/>
              </a:ext>
            </a:extLst>
          </p:cNvPr>
          <p:cNvSpPr/>
          <p:nvPr/>
        </p:nvSpPr>
        <p:spPr>
          <a:xfrm>
            <a:off x="275991" y="3438148"/>
            <a:ext cx="5833872" cy="722376"/>
          </a:xfrm>
          <a:prstGeom prst="roundRect">
            <a:avLst>
              <a:gd name="adj" fmla="val 7080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01" name="Text 35">
            <a:extLst>
              <a:ext uri="{FF2B5EF4-FFF2-40B4-BE49-F238E27FC236}">
                <a16:creationId xmlns:a16="http://schemas.microsoft.com/office/drawing/2014/main" id="{05DC75E9-4852-858E-8634-EAD756598BE2}"/>
              </a:ext>
            </a:extLst>
          </p:cNvPr>
          <p:cNvSpPr/>
          <p:nvPr/>
        </p:nvSpPr>
        <p:spPr>
          <a:xfrm>
            <a:off x="413151" y="3521275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MBPP</a:t>
            </a:r>
            <a:endParaRPr lang="en-US" sz="1250" dirty="0"/>
          </a:p>
        </p:txBody>
      </p:sp>
      <p:sp>
        <p:nvSpPr>
          <p:cNvPr id="103" name="Text 36">
            <a:extLst>
              <a:ext uri="{FF2B5EF4-FFF2-40B4-BE49-F238E27FC236}">
                <a16:creationId xmlns:a16="http://schemas.microsoft.com/office/drawing/2014/main" id="{25E5CA2C-5B72-AD1B-74D3-9F7212BEBC18}"/>
              </a:ext>
            </a:extLst>
          </p:cNvPr>
          <p:cNvSpPr/>
          <p:nvPr/>
        </p:nvSpPr>
        <p:spPr>
          <a:xfrm>
            <a:off x="413151" y="3832171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programs</a:t>
            </a:r>
            <a:endParaRPr lang="en-US" sz="950" dirty="0"/>
          </a:p>
        </p:txBody>
      </p:sp>
      <p:sp>
        <p:nvSpPr>
          <p:cNvPr id="105" name="Shape 37">
            <a:extLst>
              <a:ext uri="{FF2B5EF4-FFF2-40B4-BE49-F238E27FC236}">
                <a16:creationId xmlns:a16="http://schemas.microsoft.com/office/drawing/2014/main" id="{D6D9D450-10AA-3A4E-2706-6FCD24A53B16}"/>
              </a:ext>
            </a:extLst>
          </p:cNvPr>
          <p:cNvSpPr/>
          <p:nvPr/>
        </p:nvSpPr>
        <p:spPr>
          <a:xfrm>
            <a:off x="2561991" y="3612715"/>
            <a:ext cx="33832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107" name="Shape 38">
            <a:extLst>
              <a:ext uri="{FF2B5EF4-FFF2-40B4-BE49-F238E27FC236}">
                <a16:creationId xmlns:a16="http://schemas.microsoft.com/office/drawing/2014/main" id="{720C5F26-9213-679D-3828-2CD7D8CADB13}"/>
              </a:ext>
            </a:extLst>
          </p:cNvPr>
          <p:cNvSpPr/>
          <p:nvPr/>
        </p:nvSpPr>
        <p:spPr>
          <a:xfrm>
            <a:off x="2561991" y="3612715"/>
            <a:ext cx="1725473" cy="256032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9" name="Shape 39">
            <a:extLst>
              <a:ext uri="{FF2B5EF4-FFF2-40B4-BE49-F238E27FC236}">
                <a16:creationId xmlns:a16="http://schemas.microsoft.com/office/drawing/2014/main" id="{C89DE889-7BBC-B18E-5234-2607F4548A05}"/>
              </a:ext>
            </a:extLst>
          </p:cNvPr>
          <p:cNvSpPr/>
          <p:nvPr/>
        </p:nvSpPr>
        <p:spPr>
          <a:xfrm>
            <a:off x="2561991" y="3612715"/>
            <a:ext cx="2131466" cy="25603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1" name="Text 40">
            <a:extLst>
              <a:ext uri="{FF2B5EF4-FFF2-40B4-BE49-F238E27FC236}">
                <a16:creationId xmlns:a16="http://schemas.microsoft.com/office/drawing/2014/main" id="{AD9E4CD0-13E9-15FD-D44D-6B89881BC4F4}"/>
              </a:ext>
            </a:extLst>
          </p:cNvPr>
          <p:cNvSpPr/>
          <p:nvPr/>
        </p:nvSpPr>
        <p:spPr>
          <a:xfrm>
            <a:off x="2561991" y="3905323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51%</a:t>
            </a:r>
            <a:endParaRPr lang="en-US" sz="900" dirty="0"/>
          </a:p>
        </p:txBody>
      </p:sp>
      <p:sp>
        <p:nvSpPr>
          <p:cNvPr id="113" name="Text 41">
            <a:extLst>
              <a:ext uri="{FF2B5EF4-FFF2-40B4-BE49-F238E27FC236}">
                <a16:creationId xmlns:a16="http://schemas.microsoft.com/office/drawing/2014/main" id="{065CB525-6441-8A81-CAE2-AC424793E3FB}"/>
              </a:ext>
            </a:extLst>
          </p:cNvPr>
          <p:cNvSpPr/>
          <p:nvPr/>
        </p:nvSpPr>
        <p:spPr>
          <a:xfrm>
            <a:off x="3979311" y="3905323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63%  +12% pass@1</a:t>
            </a:r>
            <a:endParaRPr lang="en-US" sz="900" dirty="0"/>
          </a:p>
        </p:txBody>
      </p:sp>
      <p:sp>
        <p:nvSpPr>
          <p:cNvPr id="115" name="Shape 42">
            <a:extLst>
              <a:ext uri="{FF2B5EF4-FFF2-40B4-BE49-F238E27FC236}">
                <a16:creationId xmlns:a16="http://schemas.microsoft.com/office/drawing/2014/main" id="{88D98156-0DFA-2D30-F862-2671D7941386}"/>
              </a:ext>
            </a:extLst>
          </p:cNvPr>
          <p:cNvSpPr/>
          <p:nvPr/>
        </p:nvSpPr>
        <p:spPr>
          <a:xfrm>
            <a:off x="275991" y="4276067"/>
            <a:ext cx="5833872" cy="722376"/>
          </a:xfrm>
          <a:prstGeom prst="roundRect">
            <a:avLst>
              <a:gd name="adj" fmla="val 7080"/>
            </a:avLst>
          </a:prstGeom>
          <a:solidFill>
            <a:srgbClr val="CCFBF1"/>
          </a:solidFill>
          <a:ln w="13970">
            <a:solidFill>
              <a:srgbClr val="0D9488"/>
            </a:solidFill>
            <a:prstDash val="solid"/>
          </a:ln>
        </p:spPr>
      </p:sp>
      <p:sp>
        <p:nvSpPr>
          <p:cNvPr id="117" name="Text 43">
            <a:extLst>
              <a:ext uri="{FF2B5EF4-FFF2-40B4-BE49-F238E27FC236}">
                <a16:creationId xmlns:a16="http://schemas.microsoft.com/office/drawing/2014/main" id="{F49B1962-A383-C76E-7A59-9BFE97694867}"/>
              </a:ext>
            </a:extLst>
          </p:cNvPr>
          <p:cNvSpPr/>
          <p:nvPr/>
        </p:nvSpPr>
        <p:spPr>
          <a:xfrm>
            <a:off x="413151" y="435919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</a:t>
            </a:r>
            <a:endParaRPr lang="en-US" sz="1250" dirty="0"/>
          </a:p>
        </p:txBody>
      </p:sp>
      <p:sp>
        <p:nvSpPr>
          <p:cNvPr id="119" name="Text 44">
            <a:extLst>
              <a:ext uri="{FF2B5EF4-FFF2-40B4-BE49-F238E27FC236}">
                <a16:creationId xmlns:a16="http://schemas.microsoft.com/office/drawing/2014/main" id="{B713BF7C-AA08-12E0-C43F-B6C77F2AFEF8}"/>
              </a:ext>
            </a:extLst>
          </p:cNvPr>
          <p:cNvSpPr/>
          <p:nvPr/>
        </p:nvSpPr>
        <p:spPr>
          <a:xfrm>
            <a:off x="413151" y="467009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GitHub PRs</a:t>
            </a:r>
            <a:endParaRPr lang="en-US" sz="950" dirty="0"/>
          </a:p>
        </p:txBody>
      </p:sp>
      <p:sp>
        <p:nvSpPr>
          <p:cNvPr id="121" name="Shape 45">
            <a:extLst>
              <a:ext uri="{FF2B5EF4-FFF2-40B4-BE49-F238E27FC236}">
                <a16:creationId xmlns:a16="http://schemas.microsoft.com/office/drawing/2014/main" id="{257EB9EC-4529-F653-CB28-F77298CAE60E}"/>
              </a:ext>
            </a:extLst>
          </p:cNvPr>
          <p:cNvSpPr/>
          <p:nvPr/>
        </p:nvSpPr>
        <p:spPr>
          <a:xfrm>
            <a:off x="2561991" y="4450634"/>
            <a:ext cx="33832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123" name="Shape 46">
            <a:extLst>
              <a:ext uri="{FF2B5EF4-FFF2-40B4-BE49-F238E27FC236}">
                <a16:creationId xmlns:a16="http://schemas.microsoft.com/office/drawing/2014/main" id="{4DC87541-E19D-295A-8FAE-75A74A0519F8}"/>
              </a:ext>
            </a:extLst>
          </p:cNvPr>
          <p:cNvSpPr/>
          <p:nvPr/>
        </p:nvSpPr>
        <p:spPr>
          <a:xfrm>
            <a:off x="2561991" y="4450634"/>
            <a:ext cx="169164" cy="256032"/>
          </a:xfrm>
          <a:prstGeom prst="roundRect">
            <a:avLst>
              <a:gd name="adj" fmla="val 75676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5" name="Shape 47">
            <a:extLst>
              <a:ext uri="{FF2B5EF4-FFF2-40B4-BE49-F238E27FC236}">
                <a16:creationId xmlns:a16="http://schemas.microsoft.com/office/drawing/2014/main" id="{02D6E684-F9B8-BD14-F29A-DD0C0CE5A9E7}"/>
              </a:ext>
            </a:extLst>
          </p:cNvPr>
          <p:cNvSpPr/>
          <p:nvPr/>
        </p:nvSpPr>
        <p:spPr>
          <a:xfrm>
            <a:off x="2561991" y="4450634"/>
            <a:ext cx="84582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7" name="Text 48">
            <a:extLst>
              <a:ext uri="{FF2B5EF4-FFF2-40B4-BE49-F238E27FC236}">
                <a16:creationId xmlns:a16="http://schemas.microsoft.com/office/drawing/2014/main" id="{BEF8F00D-5C1F-27DD-3AA1-0E5F46230C1D}"/>
              </a:ext>
            </a:extLst>
          </p:cNvPr>
          <p:cNvSpPr/>
          <p:nvPr/>
        </p:nvSpPr>
        <p:spPr>
          <a:xfrm>
            <a:off x="2561991" y="474324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5%</a:t>
            </a:r>
            <a:endParaRPr lang="en-US" sz="900" dirty="0"/>
          </a:p>
        </p:txBody>
      </p:sp>
      <p:sp>
        <p:nvSpPr>
          <p:cNvPr id="129" name="Text 49">
            <a:extLst>
              <a:ext uri="{FF2B5EF4-FFF2-40B4-BE49-F238E27FC236}">
                <a16:creationId xmlns:a16="http://schemas.microsoft.com/office/drawing/2014/main" id="{4E3E7F1F-0684-65E3-BCCF-6C49A2CB931B}"/>
              </a:ext>
            </a:extLst>
          </p:cNvPr>
          <p:cNvSpPr/>
          <p:nvPr/>
        </p:nvSpPr>
        <p:spPr>
          <a:xfrm>
            <a:off x="3979311" y="474324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25%  ≥25% resolve</a:t>
            </a:r>
            <a:endParaRPr lang="en-US" sz="900" dirty="0"/>
          </a:p>
        </p:txBody>
      </p:sp>
      <p:sp>
        <p:nvSpPr>
          <p:cNvPr id="131" name="Shape 50">
            <a:extLst>
              <a:ext uri="{FF2B5EF4-FFF2-40B4-BE49-F238E27FC236}">
                <a16:creationId xmlns:a16="http://schemas.microsoft.com/office/drawing/2014/main" id="{9ADAD6CF-3316-C43F-0DE5-9E9BCBA00651}"/>
              </a:ext>
            </a:extLst>
          </p:cNvPr>
          <p:cNvSpPr/>
          <p:nvPr/>
        </p:nvSpPr>
        <p:spPr>
          <a:xfrm>
            <a:off x="275991" y="5138926"/>
            <a:ext cx="5833872" cy="722376"/>
          </a:xfrm>
          <a:prstGeom prst="roundRect">
            <a:avLst>
              <a:gd name="adj" fmla="val 7080"/>
            </a:avLst>
          </a:prstGeom>
          <a:solidFill>
            <a:srgbClr val="DCFCE7"/>
          </a:solidFill>
          <a:ln w="13970">
            <a:solidFill>
              <a:srgbClr val="15803D"/>
            </a:solidFill>
            <a:prstDash val="solid"/>
          </a:ln>
        </p:spPr>
      </p:sp>
      <p:sp>
        <p:nvSpPr>
          <p:cNvPr id="133" name="Text 51">
            <a:extLst>
              <a:ext uri="{FF2B5EF4-FFF2-40B4-BE49-F238E27FC236}">
                <a16:creationId xmlns:a16="http://schemas.microsoft.com/office/drawing/2014/main" id="{30A1C3F0-BD99-521D-B1DE-645BABF8B57C}"/>
              </a:ext>
            </a:extLst>
          </p:cNvPr>
          <p:cNvSpPr/>
          <p:nvPr/>
        </p:nvSpPr>
        <p:spPr>
          <a:xfrm>
            <a:off x="413151" y="5222053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</a:t>
            </a:r>
            <a:endParaRPr lang="en-US" sz="1250" dirty="0"/>
          </a:p>
        </p:txBody>
      </p:sp>
      <p:sp>
        <p:nvSpPr>
          <p:cNvPr id="135" name="Text 52">
            <a:extLst>
              <a:ext uri="{FF2B5EF4-FFF2-40B4-BE49-F238E27FC236}">
                <a16:creationId xmlns:a16="http://schemas.microsoft.com/office/drawing/2014/main" id="{45CBE04F-8731-A381-3A81-87E40BEE70F3}"/>
              </a:ext>
            </a:extLst>
          </p:cNvPr>
          <p:cNvSpPr/>
          <p:nvPr/>
        </p:nvSpPr>
        <p:spPr>
          <a:xfrm>
            <a:off x="413151" y="5532949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NOESIS PRs</a:t>
            </a:r>
            <a:endParaRPr lang="en-US" sz="950" dirty="0"/>
          </a:p>
        </p:txBody>
      </p:sp>
      <p:sp>
        <p:nvSpPr>
          <p:cNvPr id="137" name="Shape 53">
            <a:extLst>
              <a:ext uri="{FF2B5EF4-FFF2-40B4-BE49-F238E27FC236}">
                <a16:creationId xmlns:a16="http://schemas.microsoft.com/office/drawing/2014/main" id="{AB531B8C-4F58-30FA-1657-8DC672EAA050}"/>
              </a:ext>
            </a:extLst>
          </p:cNvPr>
          <p:cNvSpPr/>
          <p:nvPr/>
        </p:nvSpPr>
        <p:spPr>
          <a:xfrm>
            <a:off x="2561991" y="5313493"/>
            <a:ext cx="33832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139" name="Shape 54">
            <a:extLst>
              <a:ext uri="{FF2B5EF4-FFF2-40B4-BE49-F238E27FC236}">
                <a16:creationId xmlns:a16="http://schemas.microsoft.com/office/drawing/2014/main" id="{A99BF790-9C0C-4D3B-1E46-6D38DF3148A5}"/>
              </a:ext>
            </a:extLst>
          </p:cNvPr>
          <p:cNvSpPr/>
          <p:nvPr/>
        </p:nvSpPr>
        <p:spPr>
          <a:xfrm>
            <a:off x="2561991" y="5313493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1" name="Text 55">
            <a:extLst>
              <a:ext uri="{FF2B5EF4-FFF2-40B4-BE49-F238E27FC236}">
                <a16:creationId xmlns:a16="http://schemas.microsoft.com/office/drawing/2014/main" id="{29323207-9867-F951-F5BE-51162ED67E7D}"/>
              </a:ext>
            </a:extLst>
          </p:cNvPr>
          <p:cNvSpPr/>
          <p:nvPr/>
        </p:nvSpPr>
        <p:spPr>
          <a:xfrm>
            <a:off x="2561991" y="560610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0%</a:t>
            </a:r>
            <a:endParaRPr lang="en-US" sz="900" dirty="0"/>
          </a:p>
        </p:txBody>
      </p:sp>
      <p:sp>
        <p:nvSpPr>
          <p:cNvPr id="143" name="Text 56">
            <a:extLst>
              <a:ext uri="{FF2B5EF4-FFF2-40B4-BE49-F238E27FC236}">
                <a16:creationId xmlns:a16="http://schemas.microsoft.com/office/drawing/2014/main" id="{9D14C901-D574-F545-EA10-04FED71FA0FB}"/>
              </a:ext>
            </a:extLst>
          </p:cNvPr>
          <p:cNvSpPr/>
          <p:nvPr/>
        </p:nvSpPr>
        <p:spPr>
          <a:xfrm>
            <a:off x="3979311" y="5606101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50%  ≥5/10 green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184" y="219456"/>
            <a:ext cx="1005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1070679"/>
            <a:ext cx="5486400" cy="2450592"/>
          </a:xfrm>
          <a:prstGeom prst="roundRect">
            <a:avLst>
              <a:gd name="adj" fmla="val 2985"/>
            </a:avLst>
          </a:prstGeom>
          <a:solidFill>
            <a:srgbClr val="EFF6FF"/>
          </a:solidFill>
          <a:ln w="1905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" name="Shape 4"/>
          <p:cNvSpPr/>
          <p:nvPr/>
        </p:nvSpPr>
        <p:spPr>
          <a:xfrm>
            <a:off x="256032" y="1070679"/>
            <a:ext cx="5486400" cy="45720"/>
          </a:xfrm>
          <a:prstGeom prst="rect">
            <a:avLst/>
          </a:prstGeom>
          <a:solidFill>
            <a:srgbClr val="46B0FA"/>
          </a:solidFill>
          <a:ln w="1270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" name="Text 5"/>
          <p:cNvSpPr/>
          <p:nvPr/>
        </p:nvSpPr>
        <p:spPr>
          <a:xfrm>
            <a:off x="420624" y="1162119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Multi-Agent AI</a:t>
            </a:r>
            <a:r>
              <a:rPr lang="en-US" dirty="0"/>
              <a:t> </a:t>
            </a:r>
            <a:r>
              <a:rPr lang="en-US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Orchestration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20624" y="1692471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8089" y="1558875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v0.3 [5] · Microsoft AutoGen [6]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0624" y="1911927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contribution: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20624" y="2094807"/>
            <a:ext cx="5157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communication, tool-calling, and task delegation frameworks at scale.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20624" y="2478855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gap: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20624" y="2661735"/>
            <a:ext cx="5157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kernel-level security boundaries, deterministic replay, or hierarchical memory management.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0624" y="3192087"/>
            <a:ext cx="5157216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6" name="Text 13"/>
          <p:cNvSpPr/>
          <p:nvPr/>
        </p:nvSpPr>
        <p:spPr>
          <a:xfrm>
            <a:off x="493776" y="3192087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NOESIS targets C1, C2, C3 to address these system-level limitations.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833872" y="1070679"/>
            <a:ext cx="5486400" cy="2450592"/>
          </a:xfrm>
          <a:prstGeom prst="roundRect">
            <a:avLst>
              <a:gd name="adj" fmla="val 2985"/>
            </a:avLst>
          </a:prstGeom>
          <a:solidFill>
            <a:srgbClr val="EDE9FE"/>
          </a:solidFill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8" name="Shape 15"/>
          <p:cNvSpPr/>
          <p:nvPr/>
        </p:nvSpPr>
        <p:spPr>
          <a:xfrm>
            <a:off x="5833872" y="1070679"/>
            <a:ext cx="5486400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9" name="Text 16"/>
          <p:cNvSpPr/>
          <p:nvPr/>
        </p:nvSpPr>
        <p:spPr>
          <a:xfrm>
            <a:off x="5998464" y="1162119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Memory &amp;</a:t>
            </a:r>
            <a:r>
              <a:rPr lang="en-US" dirty="0"/>
              <a:t> </a:t>
            </a:r>
            <a:r>
              <a:rPr lang="en-US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Long-Context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998464" y="1692471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811906" y="16241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 — Lost in the Middle (ACL 2023) [1]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998464" y="1911927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contribution: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998464" y="2094807"/>
            <a:ext cx="5157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performance degradation in long-context LLM tasks; proposes two-tier retrieval.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998464" y="2478855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gap: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998464" y="2661735"/>
            <a:ext cx="5157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Retrieval-oriented approaches do not address hierarchical lifecycle management across agent steps.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998464" y="3192087"/>
            <a:ext cx="5157216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7" name="Text 24"/>
          <p:cNvSpPr/>
          <p:nvPr/>
        </p:nvSpPr>
        <p:spPr>
          <a:xfrm>
            <a:off x="6071616" y="3192087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Motivates C3 — the 6-tier Νόησις memory model with promotion and provenance.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56032" y="3612711"/>
            <a:ext cx="5486400" cy="2450592"/>
          </a:xfrm>
          <a:prstGeom prst="roundRect">
            <a:avLst>
              <a:gd name="adj" fmla="val 2985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9" name="Shape 26"/>
          <p:cNvSpPr/>
          <p:nvPr/>
        </p:nvSpPr>
        <p:spPr>
          <a:xfrm>
            <a:off x="256032" y="3612711"/>
            <a:ext cx="54864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0" name="Text 27"/>
          <p:cNvSpPr/>
          <p:nvPr/>
        </p:nvSpPr>
        <p:spPr>
          <a:xfrm>
            <a:off x="420624" y="3704151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Capability</a:t>
            </a:r>
            <a:r>
              <a:rPr lang="en-US" dirty="0"/>
              <a:t> </a:t>
            </a:r>
            <a:r>
              <a:rPr lang="en-US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20624" y="4234503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2334770" y="41455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Miller, </a:t>
            </a:r>
            <a:r>
              <a:rPr lang="en-US" sz="900" i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Yee</a:t>
            </a:r>
            <a:r>
              <a:rPr lang="en-US" sz="1000" i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Shapiro (2003) [10] · Ritchie &amp; Thompson (1978) [9]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20624" y="4453959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contribution: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20624" y="4636839"/>
            <a:ext cx="5157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capability security (AND-mask, deny-first) and Unix OS spawn/join primitives.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20624" y="5020887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gap: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20624" y="5203767"/>
            <a:ext cx="5157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OS-level constructs have not been applied to multi-agent AI orchestration.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20624" y="5734119"/>
            <a:ext cx="5157216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8" name="Text 35"/>
          <p:cNvSpPr/>
          <p:nvPr/>
        </p:nvSpPr>
        <p:spPr>
          <a:xfrm>
            <a:off x="493776" y="5734119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Motivates C1 — AND-mask capability tokens and deny-first access control.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833872" y="3612711"/>
            <a:ext cx="5486400" cy="2450592"/>
          </a:xfrm>
          <a:prstGeom prst="roundRect">
            <a:avLst>
              <a:gd name="adj" fmla="val 2985"/>
            </a:avLst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0" name="Shape 37"/>
          <p:cNvSpPr/>
          <p:nvPr/>
        </p:nvSpPr>
        <p:spPr>
          <a:xfrm>
            <a:off x="5833872" y="3612711"/>
            <a:ext cx="5486400" cy="457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1" name="Text 38"/>
          <p:cNvSpPr/>
          <p:nvPr/>
        </p:nvSpPr>
        <p:spPr>
          <a:xfrm>
            <a:off x="5998464" y="3704151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Code Generation</a:t>
            </a:r>
            <a:r>
              <a:rPr lang="en-US" dirty="0"/>
              <a:t> </a:t>
            </a:r>
            <a:r>
              <a:rPr lang="en-US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Evaluation</a:t>
            </a: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5998464" y="4234503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8926207" y="4211227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 [2] · MBPP [3] · SWE-bench [4] · </a:t>
            </a:r>
          </a:p>
          <a:p>
            <a:pPr marL="0" indent="0" algn="l">
              <a:buNone/>
            </a:pPr>
            <a:r>
              <a:rPr lang="en-US" sz="1050" i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 [7] · DeepSeek-Coder V2 [8]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5998464" y="4453959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contribution: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5998464" y="4636839"/>
            <a:ext cx="5157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pass@1 benchmarks and strong baseline LLMs for code generation tasks.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5998464" y="5020887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gap: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5998464" y="5203767"/>
            <a:ext cx="5157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focuses on standalone models; multi-agent pipeline effects are not measured.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5998464" y="5734119"/>
            <a:ext cx="5157216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9" name="Text 46"/>
          <p:cNvSpPr/>
          <p:nvPr/>
        </p:nvSpPr>
        <p:spPr>
          <a:xfrm>
            <a:off x="6071616" y="5734119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evaluation framework for O2 — benchmark performance objective.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" y="82296"/>
            <a:ext cx="11996928" cy="6684264"/>
          </a:xfrm>
          <a:prstGeom prst="rect">
            <a:avLst/>
          </a:prstGeom>
          <a:solidFill>
            <a:srgbClr val="FFFFFF"/>
          </a:solidFill>
          <a:ln w="19050">
            <a:solidFill>
              <a:srgbClr val="46B0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184" y="219456"/>
            <a:ext cx="1005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329184" y="83210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position of NOESIS as an open, capstone-grade multi-agent OS kernel project.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6032" y="1353312"/>
            <a:ext cx="5486400" cy="2450592"/>
          </a:xfrm>
          <a:prstGeom prst="roundRect">
            <a:avLst>
              <a:gd name="adj" fmla="val 2985"/>
            </a:avLst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56032" y="1353312"/>
            <a:ext cx="5486400" cy="457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0624" y="1490472"/>
            <a:ext cx="457200" cy="45720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20624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7552" y="151790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8912" y="2084832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03504" y="2011680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256/256 tests — fully typed and deterministic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38912" y="2523744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3504" y="2450592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AND-mask MAC security (unique in open-source)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38912" y="2962656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03504" y="2889504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Bit-exact replay — audit and compliance grade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38912" y="3401568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03504" y="3328416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6-tier memory with SHA-256 provenance chain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833872" y="1353312"/>
            <a:ext cx="5486400" cy="2450592"/>
          </a:xfrm>
          <a:prstGeom prst="roundRect">
            <a:avLst>
              <a:gd name="adj" fmla="val 2985"/>
            </a:avLst>
          </a:prstGeom>
          <a:solidFill>
            <a:srgbClr val="FEF3C7"/>
          </a:solidFill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833872" y="1353312"/>
            <a:ext cx="5486400" cy="45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98464" y="1490472"/>
            <a:ext cx="457200" cy="4572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998464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6565392" y="151790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016752" y="2084832"/>
            <a:ext cx="109728" cy="1097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181344" y="2011680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tuned for software engineering today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016752" y="2523744"/>
            <a:ext cx="109728" cy="1097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181344" y="2450592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node — MPI fan-out planned for M9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016752" y="2962656"/>
            <a:ext cx="109728" cy="1097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181344" y="2889504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 quality ≈ GPT-3.5 tier currently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016752" y="3401568"/>
            <a:ext cx="109728" cy="1097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181344" y="3328416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TensorRT-LLM GPU scheduler not yet integrated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256032" y="3895344"/>
            <a:ext cx="5486400" cy="2450592"/>
          </a:xfrm>
          <a:prstGeom prst="roundRect">
            <a:avLst>
              <a:gd name="adj" fmla="val 2985"/>
            </a:avLst>
          </a:prstGeom>
          <a:solidFill>
            <a:srgbClr val="EFF6FF"/>
          </a:solidFill>
          <a:ln w="1905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256032" y="3895344"/>
            <a:ext cx="5486400" cy="45720"/>
          </a:xfrm>
          <a:prstGeom prst="rect">
            <a:avLst/>
          </a:prstGeom>
          <a:solidFill>
            <a:srgbClr val="46B0FA"/>
          </a:solidFill>
          <a:ln w="1270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20624" y="4032504"/>
            <a:ext cx="457200" cy="457200"/>
          </a:xfrm>
          <a:prstGeom prst="ellipse">
            <a:avLst/>
          </a:prstGeom>
          <a:solidFill>
            <a:srgbClr val="46B0FA"/>
          </a:solidFill>
          <a:ln w="1270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20624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987552" y="40599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438912" y="4626864"/>
            <a:ext cx="109728" cy="109728"/>
          </a:xfrm>
          <a:prstGeom prst="ellipse">
            <a:avLst/>
          </a:prstGeom>
          <a:solidFill>
            <a:srgbClr val="46B0FA"/>
          </a:solidFill>
          <a:ln w="1270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03504" y="4553712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HIPAA/SOX governance wave demands auditable AI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438912" y="5065776"/>
            <a:ext cx="109728" cy="109728"/>
          </a:xfrm>
          <a:prstGeom prst="ellipse">
            <a:avLst/>
          </a:prstGeom>
          <a:solidFill>
            <a:srgbClr val="46B0FA"/>
          </a:solidFill>
          <a:ln w="1270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603504" y="4992624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$139 Jetson Nano = zero-fee on-device AI boom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438912" y="5504688"/>
            <a:ext cx="109728" cy="109728"/>
          </a:xfrm>
          <a:prstGeom prst="ellipse">
            <a:avLst/>
          </a:prstGeom>
          <a:solidFill>
            <a:srgbClr val="46B0FA"/>
          </a:solidFill>
          <a:ln w="1270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603504" y="5431536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OSS rival has all 3: memory+MAC+determinism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438912" y="5943600"/>
            <a:ext cx="109728" cy="109728"/>
          </a:xfrm>
          <a:prstGeom prst="ellipse">
            <a:avLst/>
          </a:prstGeom>
          <a:solidFill>
            <a:srgbClr val="46B0FA"/>
          </a:solidFill>
          <a:ln w="1270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603504" y="5870448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NoesisOS desktop installer broadens the market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5833872" y="3895344"/>
            <a:ext cx="5486400" cy="2450592"/>
          </a:xfrm>
          <a:prstGeom prst="roundRect">
            <a:avLst>
              <a:gd name="adj" fmla="val 2985"/>
            </a:avLst>
          </a:prstGeom>
          <a:solidFill>
            <a:srgbClr val="FEE2E2"/>
          </a:solidFill>
          <a:ln w="1905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5833872" y="3895344"/>
            <a:ext cx="5486400" cy="45720"/>
          </a:xfrm>
          <a:prstGeom prst="rect">
            <a:avLst/>
          </a:prstGeom>
          <a:solidFill>
            <a:srgbClr val="C92020"/>
          </a:solidFill>
          <a:ln w="1270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5998464" y="4032504"/>
            <a:ext cx="457200" cy="457200"/>
          </a:xfrm>
          <a:prstGeom prst="ellipse">
            <a:avLst/>
          </a:prstGeom>
          <a:solidFill>
            <a:srgbClr val="C92020"/>
          </a:solidFill>
          <a:ln w="1270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5998464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51" name="Text 48"/>
          <p:cNvSpPr/>
          <p:nvPr/>
        </p:nvSpPr>
        <p:spPr>
          <a:xfrm>
            <a:off x="6565392" y="40599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6016752" y="4626864"/>
            <a:ext cx="109728" cy="109728"/>
          </a:xfrm>
          <a:prstGeom prst="ellipse">
            <a:avLst/>
          </a:prstGeom>
          <a:solidFill>
            <a:srgbClr val="C92020"/>
          </a:solidFill>
          <a:ln w="1270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6181344" y="4553712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LangChain/AutoGen may add security gates later</a:t>
            </a:r>
            <a:endParaRPr lang="en-US" sz="1400" dirty="0"/>
          </a:p>
        </p:txBody>
      </p:sp>
      <p:sp>
        <p:nvSpPr>
          <p:cNvPr id="54" name="Shape 51"/>
          <p:cNvSpPr/>
          <p:nvPr/>
        </p:nvSpPr>
        <p:spPr>
          <a:xfrm>
            <a:off x="6016752" y="5065776"/>
            <a:ext cx="109728" cy="109728"/>
          </a:xfrm>
          <a:prstGeom prst="ellipse">
            <a:avLst/>
          </a:prstGeom>
          <a:solidFill>
            <a:srgbClr val="C92020"/>
          </a:solidFill>
          <a:ln w="1270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6181344" y="4992624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cloud maintains output quality advantage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6016752" y="5504688"/>
            <a:ext cx="109728" cy="109728"/>
          </a:xfrm>
          <a:prstGeom prst="ellipse">
            <a:avLst/>
          </a:prstGeom>
          <a:solidFill>
            <a:srgbClr val="C92020"/>
          </a:solidFill>
          <a:ln w="1270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6181344" y="5431536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"Kernel" framing may confuse non-technical buyers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6016752" y="5943600"/>
            <a:ext cx="109728" cy="109728"/>
          </a:xfrm>
          <a:prstGeom prst="ellipse">
            <a:avLst/>
          </a:prstGeom>
          <a:solidFill>
            <a:srgbClr val="C92020"/>
          </a:solidFill>
          <a:ln w="1270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6181344" y="5870448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models may require more compute later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" y="82296"/>
            <a:ext cx="11996928" cy="6684264"/>
          </a:xfrm>
          <a:prstGeom prst="rect">
            <a:avLst/>
          </a:prstGeom>
          <a:solidFill>
            <a:srgbClr val="FFFFFF"/>
          </a:solidFill>
          <a:ln w="19050">
            <a:solidFill>
              <a:srgbClr val="46B0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184" y="219456"/>
            <a:ext cx="1005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256032" y="950976"/>
            <a:ext cx="11676888" cy="1389888"/>
          </a:xfrm>
          <a:prstGeom prst="roundRect">
            <a:avLst>
              <a:gd name="adj" fmla="val 5263"/>
            </a:avLst>
          </a:prstGeom>
          <a:solidFill>
            <a:srgbClr val="EFF6FF"/>
          </a:solidFill>
          <a:ln w="1905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56032" y="950976"/>
            <a:ext cx="54864" cy="1389888"/>
          </a:xfrm>
          <a:prstGeom prst="rect">
            <a:avLst/>
          </a:prstGeom>
          <a:solidFill>
            <a:srgbClr val="46B0FA"/>
          </a:solidFill>
          <a:ln w="1270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20624" y="1005840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20624" y="1307592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implement, and evaluate an open, deterministic kernel substrate for autonomous multi-agent AI that addresses four kernel-level limitations — hierarchical memory management, capability-based security, deterministic execution, and agent lifecycle control — while demonstrating feasibility of deployment on resource-constrained edge hardware.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56032" y="2523744"/>
            <a:ext cx="11676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Sub-Objectives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56032" y="2889504"/>
            <a:ext cx="3703320" cy="2560320"/>
          </a:xfrm>
          <a:prstGeom prst="roundRect">
            <a:avLst>
              <a:gd name="adj" fmla="val 2857"/>
            </a:avLst>
          </a:prstGeom>
          <a:solidFill>
            <a:srgbClr val="DCFCE7"/>
          </a:solidFill>
          <a:ln w="1524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56032" y="2889504"/>
            <a:ext cx="3703320" cy="457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869948" y="3054096"/>
            <a:ext cx="475488" cy="47548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869948" y="3054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93192" y="365760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Multi-Agent Kernel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93192" y="3986784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12-agent typed roster (Manan → Nirikshak) with AND-mask capability spawn gates and a tri-state ExecutorAgent decision gate. Verified by ≥256 automated pytest green gates.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393192" y="5102352"/>
            <a:ext cx="1254557" cy="21945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9525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29768" y="5093208"/>
            <a:ext cx="11814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(M7)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050792" y="2889504"/>
            <a:ext cx="3703320" cy="2560320"/>
          </a:xfrm>
          <a:prstGeom prst="roundRect">
            <a:avLst>
              <a:gd name="adj" fmla="val 2857"/>
            </a:avLst>
          </a:prstGeom>
          <a:solidFill>
            <a:srgbClr val="DBEAFE"/>
          </a:solidFill>
          <a:ln w="1524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050792" y="2889504"/>
            <a:ext cx="370332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664708" y="3054096"/>
            <a:ext cx="475488" cy="47548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664708" y="3054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4187952" y="365760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Evaluation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187952" y="3986784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12-agent pipeline on HumanEval (+8% pass@1 target), MBPP (+12% target), SWE-bench-Lite, and a Self-Hosted PR benchmark (≥5/10 green). Compare against standalone Qwen2.5-Coder-7B baseline with fixed-seed reproducibility.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4187952" y="5102352"/>
            <a:ext cx="2181758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9525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224528" y="5093208"/>
            <a:ext cx="21086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(evaluation phase)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7845552" y="2889504"/>
            <a:ext cx="3703320" cy="2560320"/>
          </a:xfrm>
          <a:prstGeom prst="roundRect">
            <a:avLst>
              <a:gd name="adj" fmla="val 2857"/>
            </a:avLst>
          </a:prstGeom>
          <a:solidFill>
            <a:srgbClr val="EDE9FE"/>
          </a:solidFill>
          <a:ln w="1524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7845552" y="2889504"/>
            <a:ext cx="3703320" cy="4572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9459468" y="3054096"/>
            <a:ext cx="475488" cy="47548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459468" y="3054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7982712" y="365760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982712" y="3986784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and deploy the NOESIS kernel on NVIDIA Jetson Orin Nano (~$139 hardware, 7–15 W, no recurring cloud API token cost). Characterise performance, power, and latency for the full 12-agent pipeline on-device.</a:t>
            </a:r>
            <a:endParaRPr lang="en-US" sz="980" dirty="0"/>
          </a:p>
        </p:txBody>
      </p:sp>
      <p:sp>
        <p:nvSpPr>
          <p:cNvPr id="32" name="Shape 29"/>
          <p:cNvSpPr/>
          <p:nvPr/>
        </p:nvSpPr>
        <p:spPr>
          <a:xfrm>
            <a:off x="7982712" y="5102352"/>
            <a:ext cx="1539850" cy="21945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8019288" y="5093208"/>
            <a:ext cx="14666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(ongoing)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184" y="219455"/>
            <a:ext cx="10058400" cy="841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Agent Workflow  vs  NOESIS Kernel Approach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1709928" y="1261872"/>
            <a:ext cx="4892040" cy="475488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837944" y="1261872"/>
            <a:ext cx="4636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Approach  (e.g., LangChain, AutoGen)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684264" y="1261872"/>
            <a:ext cx="5230368" cy="475488"/>
          </a:xfrm>
          <a:prstGeom prst="roundRect">
            <a:avLst>
              <a:gd name="adj" fmla="val 11538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12280" y="1261872"/>
            <a:ext cx="4974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NOESIS Kernel Approach  (design intent)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56032" y="1801368"/>
            <a:ext cx="1371600" cy="905256"/>
          </a:xfrm>
          <a:prstGeom prst="roundRect">
            <a:avLst>
              <a:gd name="adj" fmla="val 6061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56032" y="1801368"/>
            <a:ext cx="13716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709928" y="1801368"/>
            <a:ext cx="4892040" cy="905256"/>
          </a:xfrm>
          <a:prstGeom prst="roundRect">
            <a:avLst>
              <a:gd name="adj" fmla="val 5051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837944" y="1892808"/>
            <a:ext cx="4654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Retrieval-oriented (flat vector) memory.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long-term retention across agent boundaries.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684264" y="1801368"/>
            <a:ext cx="5230368" cy="905256"/>
          </a:xfrm>
          <a:prstGeom prst="roundRect">
            <a:avLst>
              <a:gd name="adj" fmla="val 5051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12280" y="1892808"/>
            <a:ext cx="4992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6-tier Νόησις memory (C3).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promotion with SHA-256 provenance tracking.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56032" y="2770632"/>
            <a:ext cx="1371600" cy="905256"/>
          </a:xfrm>
          <a:prstGeom prst="roundRect">
            <a:avLst>
              <a:gd name="adj" fmla="val 6061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56032" y="2770632"/>
            <a:ext cx="13716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709928" y="2770632"/>
            <a:ext cx="4892040" cy="905256"/>
          </a:xfrm>
          <a:prstGeom prst="roundRect">
            <a:avLst>
              <a:gd name="adj" fmla="val 5051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837944" y="2862072"/>
            <a:ext cx="4654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Framework-level access control.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capability inheritance model at spawn.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684264" y="2770632"/>
            <a:ext cx="5230368" cy="905256"/>
          </a:xfrm>
          <a:prstGeom prst="roundRect">
            <a:avLst>
              <a:gd name="adj" fmla="val 5051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812280" y="2862072"/>
            <a:ext cx="4992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AND-mask capability token inheritance (C1).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Deny-first policy; typed PermissionDenied on violation.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256032" y="3739896"/>
            <a:ext cx="1371600" cy="905256"/>
          </a:xfrm>
          <a:prstGeom prst="roundRect">
            <a:avLst>
              <a:gd name="adj" fmla="val 6061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56032" y="3739896"/>
            <a:ext cx="13716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709928" y="3739896"/>
            <a:ext cx="4892040" cy="905256"/>
          </a:xfrm>
          <a:prstGeom prst="roundRect">
            <a:avLst>
              <a:gd name="adj" fmla="val 5051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837944" y="3831336"/>
            <a:ext cx="4654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LLM execution.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replay across identical inputs not guaranteed.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684264" y="3739896"/>
            <a:ext cx="5230368" cy="905256"/>
          </a:xfrm>
          <a:prstGeom prst="roundRect">
            <a:avLst>
              <a:gd name="adj" fmla="val 5051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812280" y="3831336"/>
            <a:ext cx="4992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Fixed-seed deterministic orchestration (C2).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Bit-exact replay with immutable audit trace.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256032" y="4709160"/>
            <a:ext cx="1371600" cy="905256"/>
          </a:xfrm>
          <a:prstGeom prst="roundRect">
            <a:avLst>
              <a:gd name="adj" fmla="val 6061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256032" y="4709160"/>
            <a:ext cx="13716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709928" y="4709160"/>
            <a:ext cx="4892040" cy="905256"/>
          </a:xfrm>
          <a:prstGeom prst="roundRect">
            <a:avLst>
              <a:gd name="adj" fmla="val 5051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837944" y="4800600"/>
            <a:ext cx="4654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Workflow-level orchestration.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checkpoint and recovery primitives.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684264" y="4709160"/>
            <a:ext cx="5230368" cy="905256"/>
          </a:xfrm>
          <a:prstGeom prst="roundRect">
            <a:avLst>
              <a:gd name="adj" fmla="val 5051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812280" y="4800600"/>
            <a:ext cx="4992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Kernel-level spawn / join / checkpoint / resume.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replan on agent failure.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256032" y="5678424"/>
            <a:ext cx="1371600" cy="905256"/>
          </a:xfrm>
          <a:prstGeom prst="roundRect">
            <a:avLst>
              <a:gd name="adj" fmla="val 6061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256032" y="5678424"/>
            <a:ext cx="13716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Cost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709928" y="5678424"/>
            <a:ext cx="4892040" cy="905256"/>
          </a:xfrm>
          <a:prstGeom prst="roundRect">
            <a:avLst>
              <a:gd name="adj" fmla="val 5051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1837944" y="5769864"/>
            <a:ext cx="4654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cloud API token cost for LLM calls.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684264" y="5678424"/>
            <a:ext cx="5230368" cy="905256"/>
          </a:xfrm>
          <a:prstGeom prst="roundRect">
            <a:avLst>
              <a:gd name="adj" fmla="val 5051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812280" y="5769864"/>
            <a:ext cx="4992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recurring cloud API token cost for local inference.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hardware cost ~$300 (NVIDIA Jetson Orin Nano).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184" y="219456"/>
            <a:ext cx="1005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—  Steps &amp; Execution Flow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1298448"/>
            <a:ext cx="5138928" cy="694944"/>
          </a:xfrm>
          <a:prstGeom prst="roundRect">
            <a:avLst>
              <a:gd name="adj" fmla="val 6579"/>
            </a:avLst>
          </a:prstGeom>
          <a:solidFill>
            <a:srgbClr val="DCFCE7"/>
          </a:solidFill>
          <a:ln w="9525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02336" y="1444752"/>
            <a:ext cx="402336" cy="402336"/>
          </a:xfrm>
          <a:prstGeom prst="ellipse">
            <a:avLst/>
          </a:prstGeom>
          <a:solidFill>
            <a:srgbClr val="46B0FA"/>
          </a:solidFill>
          <a:ln w="1270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02336" y="1444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140817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Primitives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" y="1691640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· Pydantic v2 · DI · 31 HTTP endpoints · Alembic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56032" y="2057400"/>
            <a:ext cx="5138928" cy="694944"/>
          </a:xfrm>
          <a:prstGeom prst="roundRect">
            <a:avLst>
              <a:gd name="adj" fmla="val 6579"/>
            </a:avLst>
          </a:prstGeom>
          <a:solidFill>
            <a:srgbClr val="DCFCE7"/>
          </a:solidFill>
          <a:ln w="9525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02336" y="2203704"/>
            <a:ext cx="402336" cy="40233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02336" y="2203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14400" y="2167128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12-Agent Roster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14400" y="2450592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typed agents · AgentRoster · 256 pytest gates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56032" y="2816352"/>
            <a:ext cx="5138928" cy="694944"/>
          </a:xfrm>
          <a:prstGeom prst="roundRect">
            <a:avLst>
              <a:gd name="adj" fmla="val 6579"/>
            </a:avLst>
          </a:prstGeom>
          <a:solidFill>
            <a:srgbClr val="DCFCE7"/>
          </a:solidFill>
          <a:ln w="9525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02336" y="2962656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02336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14400" y="2926080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RAG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914400" y="3209544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Νόησις 6-tier · SHA-256 · BM25 + Qdrant hybrid search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56032" y="3575304"/>
            <a:ext cx="5138928" cy="694944"/>
          </a:xfrm>
          <a:prstGeom prst="roundRect">
            <a:avLst>
              <a:gd name="adj" fmla="val 6579"/>
            </a:avLst>
          </a:prstGeom>
          <a:solidFill>
            <a:srgbClr val="DCFCE7"/>
          </a:solidFill>
          <a:ln w="9525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02336" y="3721608"/>
            <a:ext cx="402336" cy="402336"/>
          </a:xfrm>
          <a:prstGeom prst="ellipse">
            <a:avLst/>
          </a:prstGeom>
          <a:solidFill>
            <a:srgbClr val="C92020"/>
          </a:solidFill>
          <a:ln w="1270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02336" y="3721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914400" y="3685032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9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(MAC)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914400" y="396849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CapabilityToken · AND-mask · deny-first · typed PermissionDenied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256032" y="4334256"/>
            <a:ext cx="5138928" cy="694944"/>
          </a:xfrm>
          <a:prstGeom prst="roundRect">
            <a:avLst>
              <a:gd name="adj" fmla="val 6579"/>
            </a:avLst>
          </a:prstGeom>
          <a:solidFill>
            <a:srgbClr val="DCFCE7"/>
          </a:solidFill>
          <a:ln w="9525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402336" y="4480560"/>
            <a:ext cx="402336" cy="40233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02336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914400" y="4443984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Frontend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914400" y="4727448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· 12 routes · tsc 0 / eslint 0 / vitest 45/45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256032" y="5093208"/>
            <a:ext cx="5138928" cy="694944"/>
          </a:xfrm>
          <a:prstGeom prst="roundRect">
            <a:avLst>
              <a:gd name="adj" fmla="val 6579"/>
            </a:avLst>
          </a:prstGeom>
          <a:solidFill>
            <a:srgbClr val="EDE9FE"/>
          </a:solidFill>
          <a:ln w="9525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402336" y="5239512"/>
            <a:ext cx="402336" cy="40233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02336" y="5239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914400" y="520293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Deploy</a:t>
            </a:r>
            <a:endParaRPr lang="en-US" sz="1250" dirty="0"/>
          </a:p>
        </p:txBody>
      </p:sp>
      <p:sp>
        <p:nvSpPr>
          <p:cNvPr id="50" name="Text 47"/>
          <p:cNvSpPr/>
          <p:nvPr/>
        </p:nvSpPr>
        <p:spPr>
          <a:xfrm>
            <a:off x="914400" y="5486400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 · MBPP · SWE-bench · Jetson Orin Nano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5669280" y="1261872"/>
            <a:ext cx="629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NOESIS Execution Decision Flow</a:t>
            </a:r>
            <a:endParaRPr lang="en-US" sz="1250" dirty="0"/>
          </a:p>
        </p:txBody>
      </p:sp>
      <p:sp>
        <p:nvSpPr>
          <p:cNvPr id="54" name="Shape 51"/>
          <p:cNvSpPr/>
          <p:nvPr/>
        </p:nvSpPr>
        <p:spPr>
          <a:xfrm>
            <a:off x="5669280" y="1554480"/>
            <a:ext cx="6291072" cy="13716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7760215" y="1693926"/>
            <a:ext cx="2011680" cy="347472"/>
          </a:xfrm>
          <a:prstGeom prst="ellipse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7760215" y="169392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Specification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8601463" y="2074382"/>
            <a:ext cx="237744" cy="201168"/>
          </a:xfrm>
          <a:prstGeom prst="downArrow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6964687" y="2242566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EFF6FF"/>
          </a:solidFill>
          <a:ln w="1778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7067324" y="2265426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+ Capability Token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8555743" y="2644902"/>
            <a:ext cx="237744" cy="201168"/>
          </a:xfrm>
          <a:prstGeom prst="downArrow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>
            <a:off x="6969259" y="2837897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EFF6FF"/>
          </a:solidFill>
          <a:ln w="1778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7085117" y="2821004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PlannerAgent (Manan)</a:t>
            </a:r>
            <a:r>
              <a:rPr lang="en-US" sz="1000" dirty="0"/>
              <a:t>  </a:t>
            </a: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Task DAG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555743" y="3248406"/>
            <a:ext cx="237744" cy="201168"/>
          </a:xfrm>
          <a:prstGeom prst="downArrow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7878759" y="3401568"/>
            <a:ext cx="1512532" cy="457200"/>
          </a:xfrm>
          <a:prstGeom prst="diamond">
            <a:avLst/>
          </a:prstGeom>
          <a:solidFill>
            <a:srgbClr val="FEF3C7"/>
          </a:solidFill>
          <a:ln w="2286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7519102" y="3480263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Check?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9442711" y="3614166"/>
            <a:ext cx="612648" cy="45720"/>
          </a:xfrm>
          <a:prstGeom prst="rect">
            <a:avLst/>
          </a:prstGeom>
          <a:solidFill>
            <a:srgbClr val="C92020"/>
          </a:solidFill>
          <a:ln w="1270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10046728" y="3531870"/>
            <a:ext cx="201168" cy="219456"/>
          </a:xfrm>
          <a:prstGeom prst="rightArrow">
            <a:avLst/>
          </a:prstGeom>
          <a:solidFill>
            <a:srgbClr val="C92020"/>
          </a:solidFill>
          <a:ln w="1270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5"/>
          <p:cNvSpPr/>
          <p:nvPr/>
        </p:nvSpPr>
        <p:spPr>
          <a:xfrm>
            <a:off x="10237201" y="3481251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270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10354522" y="3481251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PermissionDenied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9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(deny-first)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9600553" y="34943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9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8282403" y="391591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72" name="Shape 69"/>
          <p:cNvSpPr/>
          <p:nvPr/>
        </p:nvSpPr>
        <p:spPr>
          <a:xfrm>
            <a:off x="8555743" y="3906774"/>
            <a:ext cx="237744" cy="201168"/>
          </a:xfrm>
          <a:prstGeom prst="downArrow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0"/>
          <p:cNvSpPr/>
          <p:nvPr/>
        </p:nvSpPr>
        <p:spPr>
          <a:xfrm>
            <a:off x="6969259" y="4098798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EFF6FF"/>
          </a:solidFill>
          <a:ln w="1778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/>
          <p:nvPr/>
        </p:nvSpPr>
        <p:spPr>
          <a:xfrm>
            <a:off x="7085117" y="4126230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12-Agent Execution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/ Any / Majority join)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8582004" y="4583875"/>
            <a:ext cx="237744" cy="201168"/>
          </a:xfrm>
          <a:prstGeom prst="downArrow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3"/>
          <p:cNvSpPr/>
          <p:nvPr/>
        </p:nvSpPr>
        <p:spPr>
          <a:xfrm>
            <a:off x="7959006" y="4841077"/>
            <a:ext cx="1499940" cy="457200"/>
          </a:xfrm>
          <a:prstGeom prst="diamond">
            <a:avLst/>
          </a:prstGeom>
          <a:solidFill>
            <a:srgbClr val="FEF3C7"/>
          </a:solidFill>
          <a:ln w="2286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4"/>
          <p:cNvSpPr/>
          <p:nvPr/>
        </p:nvSpPr>
        <p:spPr>
          <a:xfrm>
            <a:off x="7543278" y="4881254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Threshold?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9441676" y="5064134"/>
            <a:ext cx="612648" cy="45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6"/>
          <p:cNvSpPr/>
          <p:nvPr/>
        </p:nvSpPr>
        <p:spPr>
          <a:xfrm>
            <a:off x="10071594" y="4972694"/>
            <a:ext cx="201168" cy="219456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7"/>
          <p:cNvSpPr/>
          <p:nvPr/>
        </p:nvSpPr>
        <p:spPr>
          <a:xfrm>
            <a:off x="10261852" y="4908686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8"/>
          <p:cNvSpPr/>
          <p:nvPr/>
        </p:nvSpPr>
        <p:spPr>
          <a:xfrm>
            <a:off x="10264633" y="494526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</a:t>
            </a:r>
            <a:r>
              <a:rPr lang="en-US" sz="800" dirty="0"/>
              <a:t> </a:t>
            </a:r>
            <a:r>
              <a:rPr lang="en-US" sz="8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loop back</a:t>
            </a:r>
            <a:endParaRPr lang="en-US" sz="800" dirty="0"/>
          </a:p>
        </p:txBody>
      </p:sp>
      <p:sp>
        <p:nvSpPr>
          <p:cNvPr id="82" name="Text 79"/>
          <p:cNvSpPr/>
          <p:nvPr/>
        </p:nvSpPr>
        <p:spPr>
          <a:xfrm>
            <a:off x="9521602" y="492697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83" name="Text 80"/>
          <p:cNvSpPr/>
          <p:nvPr/>
        </p:nvSpPr>
        <p:spPr>
          <a:xfrm>
            <a:off x="8343378" y="535674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84" name="Shape 81"/>
          <p:cNvSpPr/>
          <p:nvPr/>
        </p:nvSpPr>
        <p:spPr>
          <a:xfrm>
            <a:off x="8608554" y="5338454"/>
            <a:ext cx="237744" cy="201168"/>
          </a:xfrm>
          <a:prstGeom prst="downArrow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2"/>
          <p:cNvSpPr/>
          <p:nvPr/>
        </p:nvSpPr>
        <p:spPr>
          <a:xfrm>
            <a:off x="7010407" y="5539622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DCFCE7"/>
          </a:solidFill>
          <a:ln w="1778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3"/>
          <p:cNvSpPr/>
          <p:nvPr/>
        </p:nvSpPr>
        <p:spPr>
          <a:xfrm>
            <a:off x="7164315" y="5518721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ExecutorAgent (</a:t>
            </a:r>
            <a:r>
              <a:rPr lang="en-US" sz="10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Kriyakārī</a:t>
            </a: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Gate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8599727" y="6064215"/>
            <a:ext cx="237744" cy="201168"/>
          </a:xfrm>
          <a:prstGeom prst="downArrow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5"/>
          <p:cNvSpPr/>
          <p:nvPr/>
        </p:nvSpPr>
        <p:spPr>
          <a:xfrm>
            <a:off x="7660834" y="6301626"/>
            <a:ext cx="2011680" cy="347472"/>
          </a:xfrm>
          <a:prstGeom prst="ellipse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6"/>
          <p:cNvSpPr/>
          <p:nvPr/>
        </p:nvSpPr>
        <p:spPr>
          <a:xfrm>
            <a:off x="7629185" y="6307371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Output Report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032" y="449692"/>
            <a:ext cx="1005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Software Model 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NOESIS 5-Layer Kernel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1724924"/>
            <a:ext cx="11676888" cy="59436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524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0624" y="1779788"/>
            <a:ext cx="1134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— USER  ·  NOESIS STUDIO  (Next.js 14)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20624" y="2054108"/>
            <a:ext cx="11347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·  Workflow Builder  ·  Memory Explorer  ·  Logs &amp; Audit  ·  Capabilities  ·  Settings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29884" y="2319284"/>
            <a:ext cx="329184" cy="54864"/>
          </a:xfrm>
          <a:prstGeom prst="downArrow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56032" y="2374148"/>
            <a:ext cx="11676888" cy="36576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524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0624" y="2429012"/>
            <a:ext cx="1134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OpenAPI 3.1  REST + WebSocket  ·  JSON { ok, data, error, request_id }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5929884" y="2739908"/>
            <a:ext cx="329184" cy="54864"/>
          </a:xfrm>
          <a:prstGeom prst="downArrow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56032" y="2794772"/>
            <a:ext cx="11676888" cy="594360"/>
          </a:xfrm>
          <a:prstGeom prst="roundRect">
            <a:avLst>
              <a:gd name="adj" fmla="val 7692"/>
            </a:avLst>
          </a:prstGeom>
          <a:solidFill>
            <a:srgbClr val="EDE9FE"/>
          </a:solidFill>
          <a:ln w="1524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20624" y="2849636"/>
            <a:ext cx="1134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DETERMINISTIC ORCHESTRATOR  (fixed-seed)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20624" y="3123956"/>
            <a:ext cx="11347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Executor  ·  All / Any / Majority Join  ·  Fixed-Seed RNG  ·  Replay &amp; Audit  ·  Event Bus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56032" y="3443996"/>
            <a:ext cx="3837432" cy="1417320"/>
          </a:xfrm>
          <a:prstGeom prst="roundRect">
            <a:avLst>
              <a:gd name="adj" fmla="val 3226"/>
            </a:avLst>
          </a:prstGeom>
          <a:solidFill>
            <a:srgbClr val="CCFBF1"/>
          </a:solidFill>
          <a:ln w="1778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56032" y="3443996"/>
            <a:ext cx="3837432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47472" y="3526292"/>
            <a:ext cx="365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2A — CAPABILITY KERNEL  (C1 — MAC)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47472" y="3828044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CapabilityToken (Typed)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47472" y="4029212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AND-Mask Spawn Minting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47472" y="4230380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Deny-First Policy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47472" y="4431548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PermissionDenied (op, target, missing_list)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47472" y="4632716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Immutable Audit Log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175760" y="3443996"/>
            <a:ext cx="3837432" cy="1417320"/>
          </a:xfrm>
          <a:prstGeom prst="roundRect">
            <a:avLst>
              <a:gd name="adj" fmla="val 3226"/>
            </a:avLst>
          </a:prstGeom>
          <a:solidFill>
            <a:srgbClr val="EFF6FF"/>
          </a:solidFill>
          <a:ln w="1778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175760" y="3443996"/>
            <a:ext cx="3837432" cy="36576"/>
          </a:xfrm>
          <a:prstGeom prst="rect">
            <a:avLst/>
          </a:prstGeom>
          <a:solidFill>
            <a:srgbClr val="46B0FA"/>
          </a:solidFill>
          <a:ln w="1270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267200" y="3526292"/>
            <a:ext cx="365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2B — 12-AGENT ROSTER  (Typed)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267200" y="3828044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Manan (Planner) · Darshak (Analyst)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267200" y="4029212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Vidya (Coder) · Parikshak (Tester)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267200" y="4230380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Karmakarta (Tooler) · Anveshak (Researcher)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267200" y="4431548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Vivechak (Critic) · Paalak (Memory)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267200" y="4632716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Rakshak · Nirikshak · Kriyakārī · Samanyakā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5488" y="3443996"/>
            <a:ext cx="3837432" cy="1417320"/>
          </a:xfrm>
          <a:prstGeom prst="roundRect">
            <a:avLst>
              <a:gd name="adj" fmla="val 3226"/>
            </a:avLst>
          </a:prstGeom>
          <a:solidFill>
            <a:srgbClr val="EDE9FE"/>
          </a:solidFill>
          <a:ln w="1778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8095488" y="3443996"/>
            <a:ext cx="3837432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8186928" y="3526292"/>
            <a:ext cx="365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2C — MEMORY CONTROLLER  (C3 — Νόησις)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186928" y="3828044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T6 Transcendent (Tattva) — immutable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186928" y="4029212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T5 Strategic (Yojana) — Qdrant + Graph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186928" y="4230380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T4 Tactical (Ranniti) — SQLite JSON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186928" y="4431548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T3 Semantic (Gyaan) — Qdrant vector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186928" y="4632716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T2 Procedural — Redis  ·  T1 Sensory — Ring buffer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256032" y="4916180"/>
            <a:ext cx="11676888" cy="402336"/>
          </a:xfrm>
          <a:prstGeom prst="roundRect">
            <a:avLst>
              <a:gd name="adj" fmla="val 11364"/>
            </a:avLst>
          </a:prstGeom>
          <a:solidFill>
            <a:srgbClr val="F8FAFC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20624" y="4916180"/>
            <a:ext cx="11347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KERNEL UTILITIES  ·  Tool Registry  ·  LLM Gateway (Strategy)  ·  Config &amp; Secrets  ·  Prometheus  ·  Structured Logging  ·  Snapshots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" y="82296"/>
            <a:ext cx="11996928" cy="6684264"/>
          </a:xfrm>
          <a:prstGeom prst="rect">
            <a:avLst/>
          </a:prstGeom>
          <a:solidFill>
            <a:srgbClr val="FFFFFF"/>
          </a:solidFill>
          <a:ln w="19050">
            <a:solidFill>
              <a:srgbClr val="46B0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184" y="219456"/>
            <a:ext cx="1005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12-Agent Typed Roster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29184" y="83210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functional groups with a left-to-right processing flow. </a:t>
            </a:r>
          </a:p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Sanskrit codenames link νόησις (Greek: thinking) to मनन (Sanskrit: reflection).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56032" y="1316736"/>
            <a:ext cx="2212848" cy="347472"/>
          </a:xfrm>
          <a:prstGeom prst="roundRect">
            <a:avLst>
              <a:gd name="adj" fmla="val 15789"/>
            </a:avLst>
          </a:prstGeom>
          <a:solidFill>
            <a:srgbClr val="EFF6FF"/>
          </a:solidFill>
          <a:ln w="1524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29184" y="131673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</a:t>
            </a:r>
            <a:r>
              <a:rPr lang="en-US" sz="1400" dirty="0"/>
              <a:t> </a:t>
            </a:r>
            <a:r>
              <a:rPr lang="en-US" sz="14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56032" y="1719072"/>
            <a:ext cx="2212848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84048" y="1810512"/>
            <a:ext cx="347472" cy="347472"/>
          </a:xfrm>
          <a:prstGeom prst="ellipse">
            <a:avLst/>
          </a:prstGeom>
          <a:solidFill>
            <a:srgbClr val="46B0FA"/>
          </a:solidFill>
          <a:ln w="1270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4048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1792224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Manan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22960" y="2231136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PlannerAgent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84048" y="3474720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→ 12-step DAG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56032" y="3886200"/>
            <a:ext cx="2212848" cy="2103120"/>
          </a:xfrm>
          <a:prstGeom prst="roundRect">
            <a:avLst>
              <a:gd name="adj" fmla="val 2609"/>
            </a:avLst>
          </a:prstGeom>
          <a:solidFill>
            <a:srgbClr val="EFF6FF"/>
          </a:solidFill>
          <a:ln w="635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84048" y="3977640"/>
            <a:ext cx="347472" cy="347472"/>
          </a:xfrm>
          <a:prstGeom prst="ellipse">
            <a:avLst/>
          </a:prstGeom>
          <a:solidFill>
            <a:srgbClr val="46B0FA"/>
          </a:solidFill>
          <a:ln w="12700">
            <a:solidFill>
              <a:srgbClr val="46B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84048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2960" y="3959352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Darshak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22960" y="4398264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AnalystAgent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84048" y="5641848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· risk · constraints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551176" y="1316736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624328" y="1316736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</a:t>
            </a:r>
            <a:r>
              <a:rPr lang="en-US" sz="1400" dirty="0"/>
              <a:t> </a:t>
            </a: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2551176" y="1719072"/>
            <a:ext cx="35661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2679192" y="181051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679192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118104" y="1792224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118104" y="2103120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CoderAgent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679192" y="2359152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synthesis · diffs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551176" y="2770632"/>
            <a:ext cx="3566160" cy="987552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2679192" y="286207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2679192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3118104" y="2843784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Parikshak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3118104" y="3154680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TesterAgent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2679192" y="3410712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integration tests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2551176" y="3822192"/>
            <a:ext cx="35661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2679192" y="391363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2679192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3118104" y="3895344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Karmakarta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3118104" y="4206240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ToolerAgent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2679192" y="4462272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· file IO · APIs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2551176" y="4873752"/>
            <a:ext cx="3566160" cy="987552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2679192" y="496519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2679192" y="4965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3118104" y="4946904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Kriyakārī</a:t>
            </a:r>
            <a:endParaRPr lang="en-US" sz="2000" dirty="0"/>
          </a:p>
        </p:txBody>
      </p:sp>
      <p:sp>
        <p:nvSpPr>
          <p:cNvPr id="46" name="Text 43"/>
          <p:cNvSpPr/>
          <p:nvPr/>
        </p:nvSpPr>
        <p:spPr>
          <a:xfrm>
            <a:off x="3118104" y="5257800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ExecutorAgent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2679192" y="5513832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/ Reject / Replan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6199632" y="1316736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EDE9FE"/>
          </a:solidFill>
          <a:ln w="1524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6272784" y="1316736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</a:t>
            </a:r>
            <a:r>
              <a:rPr lang="en-US" sz="1400" dirty="0"/>
              <a:t> </a:t>
            </a: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6199632" y="1719072"/>
            <a:ext cx="35661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6327648" y="1810512"/>
            <a:ext cx="347472" cy="34747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6327648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6766560" y="1792224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Anveshak</a:t>
            </a: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6766560" y="2103120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ResearcherAgent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6327648" y="2359152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RAG + citations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6199632" y="2770632"/>
            <a:ext cx="3566160" cy="987552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6327648" y="2862072"/>
            <a:ext cx="347472" cy="34747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6327648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60" name="Text 57"/>
          <p:cNvSpPr/>
          <p:nvPr/>
        </p:nvSpPr>
        <p:spPr>
          <a:xfrm>
            <a:off x="6766560" y="2843784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Vivechak</a:t>
            </a: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6766560" y="3154680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CriticAgent</a:t>
            </a:r>
            <a:endParaRPr lang="en-US" sz="1100" dirty="0"/>
          </a:p>
        </p:txBody>
      </p:sp>
      <p:sp>
        <p:nvSpPr>
          <p:cNvPr id="62" name="Text 59"/>
          <p:cNvSpPr/>
          <p:nvPr/>
        </p:nvSpPr>
        <p:spPr>
          <a:xfrm>
            <a:off x="6327648" y="3410712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5-axis quality rubric</a:t>
            </a:r>
            <a:endParaRPr lang="en-US" sz="1050" dirty="0"/>
          </a:p>
        </p:txBody>
      </p:sp>
      <p:sp>
        <p:nvSpPr>
          <p:cNvPr id="63" name="Shape 60"/>
          <p:cNvSpPr/>
          <p:nvPr/>
        </p:nvSpPr>
        <p:spPr>
          <a:xfrm>
            <a:off x="6199632" y="3822192"/>
            <a:ext cx="35661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6327648" y="3913632"/>
            <a:ext cx="347472" cy="34747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6327648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66" name="Text 63"/>
          <p:cNvSpPr/>
          <p:nvPr/>
        </p:nvSpPr>
        <p:spPr>
          <a:xfrm>
            <a:off x="6766560" y="3895344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Paalak</a:t>
            </a:r>
            <a:endParaRPr lang="en-US" dirty="0"/>
          </a:p>
        </p:txBody>
      </p:sp>
      <p:sp>
        <p:nvSpPr>
          <p:cNvPr id="67" name="Text 64"/>
          <p:cNvSpPr/>
          <p:nvPr/>
        </p:nvSpPr>
        <p:spPr>
          <a:xfrm>
            <a:off x="6766560" y="4206240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MemoryAgent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6327648" y="4462272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promotion · eviction</a:t>
            </a:r>
            <a:endParaRPr lang="en-US" sz="1050" dirty="0"/>
          </a:p>
        </p:txBody>
      </p:sp>
      <p:sp>
        <p:nvSpPr>
          <p:cNvPr id="69" name="Shape 66"/>
          <p:cNvSpPr/>
          <p:nvPr/>
        </p:nvSpPr>
        <p:spPr>
          <a:xfrm>
            <a:off x="6199632" y="4873752"/>
            <a:ext cx="3566160" cy="987552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7"/>
          <p:cNvSpPr/>
          <p:nvPr/>
        </p:nvSpPr>
        <p:spPr>
          <a:xfrm>
            <a:off x="6327648" y="4965192"/>
            <a:ext cx="347472" cy="34747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6327648" y="4965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72" name="Text 69"/>
          <p:cNvSpPr/>
          <p:nvPr/>
        </p:nvSpPr>
        <p:spPr>
          <a:xfrm>
            <a:off x="6766560" y="4946904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Samanyakā</a:t>
            </a:r>
            <a:endParaRPr lang="en-US" dirty="0"/>
          </a:p>
        </p:txBody>
      </p:sp>
      <p:sp>
        <p:nvSpPr>
          <p:cNvPr id="73" name="Text 70"/>
          <p:cNvSpPr/>
          <p:nvPr/>
        </p:nvSpPr>
        <p:spPr>
          <a:xfrm>
            <a:off x="6766560" y="5257800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SynthesizerAgent</a:t>
            </a:r>
            <a:endParaRPr lang="en-US" sz="1100" dirty="0"/>
          </a:p>
        </p:txBody>
      </p:sp>
      <p:sp>
        <p:nvSpPr>
          <p:cNvPr id="74" name="Text 71"/>
          <p:cNvSpPr/>
          <p:nvPr/>
        </p:nvSpPr>
        <p:spPr>
          <a:xfrm>
            <a:off x="6327648" y="5513832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Consolidates outputs</a:t>
            </a:r>
            <a:endParaRPr lang="en-US" sz="1050" dirty="0"/>
          </a:p>
        </p:txBody>
      </p:sp>
      <p:sp>
        <p:nvSpPr>
          <p:cNvPr id="75" name="Shape 72"/>
          <p:cNvSpPr/>
          <p:nvPr/>
        </p:nvSpPr>
        <p:spPr>
          <a:xfrm>
            <a:off x="9848088" y="1316736"/>
            <a:ext cx="2212848" cy="347472"/>
          </a:xfrm>
          <a:prstGeom prst="roundRect">
            <a:avLst>
              <a:gd name="adj" fmla="val 15789"/>
            </a:avLst>
          </a:prstGeom>
          <a:solidFill>
            <a:srgbClr val="FEE2E2"/>
          </a:solidFill>
          <a:ln w="1524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9921240" y="131673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&amp;Security</a:t>
            </a:r>
            <a:endParaRPr lang="en-US" sz="1400" dirty="0"/>
          </a:p>
        </p:txBody>
      </p:sp>
      <p:sp>
        <p:nvSpPr>
          <p:cNvPr id="77" name="Shape 74"/>
          <p:cNvSpPr/>
          <p:nvPr/>
        </p:nvSpPr>
        <p:spPr>
          <a:xfrm>
            <a:off x="9848088" y="1719072"/>
            <a:ext cx="2212848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5"/>
          <p:cNvSpPr/>
          <p:nvPr/>
        </p:nvSpPr>
        <p:spPr>
          <a:xfrm>
            <a:off x="9976104" y="1810512"/>
            <a:ext cx="347472" cy="347472"/>
          </a:xfrm>
          <a:prstGeom prst="ellipse">
            <a:avLst/>
          </a:prstGeom>
          <a:solidFill>
            <a:srgbClr val="C92020"/>
          </a:solidFill>
          <a:ln w="1270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6"/>
          <p:cNvSpPr/>
          <p:nvPr/>
        </p:nvSpPr>
        <p:spPr>
          <a:xfrm>
            <a:off x="9976104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80" name="Text 77"/>
          <p:cNvSpPr/>
          <p:nvPr/>
        </p:nvSpPr>
        <p:spPr>
          <a:xfrm>
            <a:off x="10415016" y="1792224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9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Rakshak</a:t>
            </a:r>
            <a:endParaRPr lang="en-US" sz="2000" dirty="0"/>
          </a:p>
        </p:txBody>
      </p:sp>
      <p:sp>
        <p:nvSpPr>
          <p:cNvPr id="81" name="Text 78"/>
          <p:cNvSpPr/>
          <p:nvPr/>
        </p:nvSpPr>
        <p:spPr>
          <a:xfrm>
            <a:off x="10415016" y="2231136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SecurityAgent</a:t>
            </a:r>
            <a:endParaRPr lang="en-US" sz="1200" dirty="0"/>
          </a:p>
        </p:txBody>
      </p:sp>
      <p:sp>
        <p:nvSpPr>
          <p:cNvPr id="82" name="Text 79"/>
          <p:cNvSpPr/>
          <p:nvPr/>
        </p:nvSpPr>
        <p:spPr>
          <a:xfrm>
            <a:off x="9957816" y="3511623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audit · injection scan</a:t>
            </a:r>
            <a:endParaRPr lang="en-US" sz="1050" dirty="0"/>
          </a:p>
        </p:txBody>
      </p:sp>
      <p:sp>
        <p:nvSpPr>
          <p:cNvPr id="83" name="Shape 80"/>
          <p:cNvSpPr/>
          <p:nvPr/>
        </p:nvSpPr>
        <p:spPr>
          <a:xfrm>
            <a:off x="9857232" y="3831336"/>
            <a:ext cx="2212848" cy="2103120"/>
          </a:xfrm>
          <a:prstGeom prst="roundRect">
            <a:avLst>
              <a:gd name="adj" fmla="val 2609"/>
            </a:avLst>
          </a:prstGeom>
          <a:solidFill>
            <a:srgbClr val="EFF6FF"/>
          </a:solidFill>
          <a:ln w="635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1"/>
          <p:cNvSpPr/>
          <p:nvPr/>
        </p:nvSpPr>
        <p:spPr>
          <a:xfrm>
            <a:off x="9976104" y="3977640"/>
            <a:ext cx="347472" cy="347472"/>
          </a:xfrm>
          <a:prstGeom prst="ellipse">
            <a:avLst/>
          </a:prstGeom>
          <a:solidFill>
            <a:srgbClr val="C92020"/>
          </a:solidFill>
          <a:ln w="1270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2"/>
          <p:cNvSpPr/>
          <p:nvPr/>
        </p:nvSpPr>
        <p:spPr>
          <a:xfrm>
            <a:off x="9976104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86" name="Text 83"/>
          <p:cNvSpPr/>
          <p:nvPr/>
        </p:nvSpPr>
        <p:spPr>
          <a:xfrm>
            <a:off x="10415016" y="3959352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9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Nirikshak</a:t>
            </a:r>
            <a:endParaRPr lang="en-US" sz="2000" dirty="0"/>
          </a:p>
        </p:txBody>
      </p:sp>
      <p:sp>
        <p:nvSpPr>
          <p:cNvPr id="87" name="Text 84"/>
          <p:cNvSpPr/>
          <p:nvPr/>
        </p:nvSpPr>
        <p:spPr>
          <a:xfrm>
            <a:off x="10415016" y="431596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SupervisorAgent</a:t>
            </a:r>
            <a:endParaRPr lang="en-US" sz="1200" dirty="0"/>
          </a:p>
        </p:txBody>
      </p:sp>
      <p:sp>
        <p:nvSpPr>
          <p:cNvPr id="88" name="Text 85"/>
          <p:cNvSpPr/>
          <p:nvPr/>
        </p:nvSpPr>
        <p:spPr>
          <a:xfrm>
            <a:off x="9976104" y="5641848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Spawn-tree · AND-mask mint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4241" y="397764"/>
            <a:ext cx="1005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 ·  14-Week Schedule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331720" y="1353312"/>
            <a:ext cx="639427" cy="347472"/>
          </a:xfrm>
          <a:prstGeom prst="roundRect">
            <a:avLst>
              <a:gd name="adj" fmla="val 13158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331720" y="1353312"/>
            <a:ext cx="6394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007723" y="1353312"/>
            <a:ext cx="639427" cy="347472"/>
          </a:xfrm>
          <a:prstGeom prst="roundRect">
            <a:avLst>
              <a:gd name="adj" fmla="val 13158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007723" y="1353312"/>
            <a:ext cx="6394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83726" y="1353312"/>
            <a:ext cx="639427" cy="347472"/>
          </a:xfrm>
          <a:prstGeom prst="roundRect">
            <a:avLst>
              <a:gd name="adj" fmla="val 13158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83726" y="1353312"/>
            <a:ext cx="6394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59729" y="1353312"/>
            <a:ext cx="639427" cy="347472"/>
          </a:xfrm>
          <a:prstGeom prst="roundRect">
            <a:avLst>
              <a:gd name="adj" fmla="val 13158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359729" y="1353312"/>
            <a:ext cx="6394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35731" y="1353312"/>
            <a:ext cx="639427" cy="347472"/>
          </a:xfrm>
          <a:prstGeom prst="roundRect">
            <a:avLst>
              <a:gd name="adj" fmla="val 13158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35731" y="1353312"/>
            <a:ext cx="6394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711734" y="1353312"/>
            <a:ext cx="639427" cy="347472"/>
          </a:xfrm>
          <a:prstGeom prst="roundRect">
            <a:avLst>
              <a:gd name="adj" fmla="val 13158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711734" y="1353312"/>
            <a:ext cx="6394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387737" y="1353312"/>
            <a:ext cx="639427" cy="347472"/>
          </a:xfrm>
          <a:prstGeom prst="roundRect">
            <a:avLst>
              <a:gd name="adj" fmla="val 13158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387737" y="1353312"/>
            <a:ext cx="6394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063740" y="1353312"/>
            <a:ext cx="639427" cy="347472"/>
          </a:xfrm>
          <a:prstGeom prst="roundRect">
            <a:avLst>
              <a:gd name="adj" fmla="val 13158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063740" y="1353312"/>
            <a:ext cx="6394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739743" y="1353312"/>
            <a:ext cx="639427" cy="347472"/>
          </a:xfrm>
          <a:prstGeom prst="roundRect">
            <a:avLst>
              <a:gd name="adj" fmla="val 13158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739743" y="1353312"/>
            <a:ext cx="6394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415746" y="1353312"/>
            <a:ext cx="639427" cy="347472"/>
          </a:xfrm>
          <a:prstGeom prst="roundRect">
            <a:avLst>
              <a:gd name="adj" fmla="val 13158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15746" y="1353312"/>
            <a:ext cx="6394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091749" y="1353312"/>
            <a:ext cx="639427" cy="347472"/>
          </a:xfrm>
          <a:prstGeom prst="roundRect">
            <a:avLst>
              <a:gd name="adj" fmla="val 13158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091749" y="1353312"/>
            <a:ext cx="6394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767751" y="1353312"/>
            <a:ext cx="639427" cy="347472"/>
          </a:xfrm>
          <a:prstGeom prst="roundRect">
            <a:avLst>
              <a:gd name="adj" fmla="val 13158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767751" y="1353312"/>
            <a:ext cx="6394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0443754" y="1353312"/>
            <a:ext cx="639427" cy="347472"/>
          </a:xfrm>
          <a:prstGeom prst="roundRect">
            <a:avLst>
              <a:gd name="adj" fmla="val 13158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0443754" y="1353312"/>
            <a:ext cx="6394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1119757" y="1353312"/>
            <a:ext cx="639427" cy="347472"/>
          </a:xfrm>
          <a:prstGeom prst="roundRect">
            <a:avLst>
              <a:gd name="adj" fmla="val 13158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11119757" y="1353312"/>
            <a:ext cx="6394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256032" y="1755648"/>
            <a:ext cx="1965960" cy="539496"/>
          </a:xfrm>
          <a:prstGeom prst="roundRect">
            <a:avLst>
              <a:gd name="adj" fmla="val 6780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347472" y="1755648"/>
            <a:ext cx="1783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M0–M7  Kernel Implementation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2331720" y="1755648"/>
            <a:ext cx="9464040" cy="539496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381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2359152" y="1847088"/>
            <a:ext cx="2649147" cy="356616"/>
          </a:xfrm>
          <a:prstGeom prst="roundRect">
            <a:avLst>
              <a:gd name="adj" fmla="val 51282"/>
            </a:avLst>
          </a:prstGeom>
          <a:solidFill>
            <a:srgbClr val="DCFCE7"/>
          </a:solidFill>
          <a:ln w="635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2386584" y="1847088"/>
            <a:ext cx="2557707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W1–W4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256032" y="2350008"/>
            <a:ext cx="1965960" cy="539496"/>
          </a:xfrm>
          <a:prstGeom prst="roundRect">
            <a:avLst>
              <a:gd name="adj" fmla="val 6780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347472" y="2350008"/>
            <a:ext cx="1783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Roster Expansion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2331720" y="2350008"/>
            <a:ext cx="9464040" cy="539496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381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3711158" y="2441448"/>
            <a:ext cx="2649147" cy="356616"/>
          </a:xfrm>
          <a:prstGeom prst="roundRect">
            <a:avLst>
              <a:gd name="adj" fmla="val 51282"/>
            </a:avLst>
          </a:prstGeom>
          <a:solidFill>
            <a:srgbClr val="FEE2E2"/>
          </a:solidFill>
          <a:ln w="635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3738590" y="2441448"/>
            <a:ext cx="2557707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W3–W6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256032" y="2944368"/>
            <a:ext cx="1965960" cy="539496"/>
          </a:xfrm>
          <a:prstGeom prst="roundRect">
            <a:avLst>
              <a:gd name="adj" fmla="val 6780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347472" y="2944368"/>
            <a:ext cx="1783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RAG Hardening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2331720" y="2944368"/>
            <a:ext cx="9464040" cy="539496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381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4387161" y="3035808"/>
            <a:ext cx="2649147" cy="356616"/>
          </a:xfrm>
          <a:prstGeom prst="roundRect">
            <a:avLst>
              <a:gd name="adj" fmla="val 51282"/>
            </a:avLst>
          </a:prstGeom>
          <a:solidFill>
            <a:srgbClr val="FEF3C7"/>
          </a:solidFill>
          <a:ln w="635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414593" y="3035808"/>
            <a:ext cx="2557707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W4–W7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256032" y="3538728"/>
            <a:ext cx="1965960" cy="539496"/>
          </a:xfrm>
          <a:prstGeom prst="roundRect">
            <a:avLst>
              <a:gd name="adj" fmla="val 6780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347472" y="3538728"/>
            <a:ext cx="1783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MAC Audit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2331720" y="3538728"/>
            <a:ext cx="9464040" cy="539496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381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5739166" y="3630168"/>
            <a:ext cx="1973145" cy="356616"/>
          </a:xfrm>
          <a:prstGeom prst="roundRect">
            <a:avLst>
              <a:gd name="adj" fmla="val 51282"/>
            </a:avLst>
          </a:prstGeom>
          <a:solidFill>
            <a:srgbClr val="FEF3C7"/>
          </a:solidFill>
          <a:ln w="6350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5766598" y="3630168"/>
            <a:ext cx="188170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W6–W8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256032" y="4133088"/>
            <a:ext cx="1965960" cy="539496"/>
          </a:xfrm>
          <a:prstGeom prst="roundRect">
            <a:avLst>
              <a:gd name="adj" fmla="val 6780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347472" y="4133088"/>
            <a:ext cx="1783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Evaluation (O2)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294241" y="3585428"/>
            <a:ext cx="9464040" cy="539496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381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6415169" y="4224528"/>
            <a:ext cx="2649147" cy="356616"/>
          </a:xfrm>
          <a:prstGeom prst="roundRect">
            <a:avLst>
              <a:gd name="adj" fmla="val 51282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6442601" y="4224528"/>
            <a:ext cx="2557707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W7–W10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256032" y="4727448"/>
            <a:ext cx="1965960" cy="539496"/>
          </a:xfrm>
          <a:prstGeom prst="roundRect">
            <a:avLst>
              <a:gd name="adj" fmla="val 6780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347472" y="4727448"/>
            <a:ext cx="1783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Deployment (O3)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2331720" y="4727448"/>
            <a:ext cx="9464040" cy="539496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381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8443178" y="4818888"/>
            <a:ext cx="1973145" cy="356616"/>
          </a:xfrm>
          <a:prstGeom prst="roundRect">
            <a:avLst>
              <a:gd name="adj" fmla="val 51282"/>
            </a:avLst>
          </a:prstGeom>
          <a:solidFill>
            <a:srgbClr val="EDE9FE"/>
          </a:solidFill>
          <a:ln w="635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8470610" y="4818888"/>
            <a:ext cx="188170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W10–W12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256032" y="5321808"/>
            <a:ext cx="1965960" cy="539496"/>
          </a:xfrm>
          <a:prstGeom prst="roundRect">
            <a:avLst>
              <a:gd name="adj" fmla="val 6780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347472" y="5321808"/>
            <a:ext cx="1783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Writing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2331720" y="5321808"/>
            <a:ext cx="9464040" cy="539496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381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9795183" y="5413248"/>
            <a:ext cx="1973145" cy="356616"/>
          </a:xfrm>
          <a:prstGeom prst="roundRect">
            <a:avLst>
              <a:gd name="adj" fmla="val 51282"/>
            </a:avLst>
          </a:prstGeom>
          <a:solidFill>
            <a:srgbClr val="EDE9FE"/>
          </a:solidFill>
          <a:ln w="635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9822615" y="5413248"/>
            <a:ext cx="188170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W12–W14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256032" y="600760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9525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512064" y="6007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(M0-M7)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2724912" y="600760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9525">
            <a:solidFill>
              <a:srgbClr val="C9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2980944" y="6007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Synopsis Stage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5193792" y="600760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/>
          <p:nvPr/>
        </p:nvSpPr>
        <p:spPr>
          <a:xfrm>
            <a:off x="5449824" y="6007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7662672" y="600760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7918704" y="6007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"/>
            <a:ext cx="11996928" cy="6684264"/>
          </a:xfrm>
          <a:prstGeom prst="rect">
            <a:avLst/>
          </a:prstGeom>
          <a:solidFill>
            <a:srgbClr val="FFFFFF"/>
          </a:solidFill>
          <a:ln w="19050">
            <a:solidFill>
              <a:srgbClr val="46B0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184" y="219456"/>
            <a:ext cx="1005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29184" y="83210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references: [1]–[10] primary · [11]–[20] supporting literature. Colour: teal = OS foundations · amber = prior frameworks · blue = benchmarks &amp; LLMs.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56032" y="1353312"/>
            <a:ext cx="5623560" cy="429768"/>
          </a:xfrm>
          <a:prstGeom prst="roundRect">
            <a:avLst>
              <a:gd name="adj" fmla="val 8511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29184" y="1353312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353312"/>
            <a:ext cx="4965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F. Liu et al., "Lost in the Middle: How Language Models Use Long Contexts," in Proc. Annu. Meet. ACL, 2023, pp. 9129–9141. DOI: 10.18653/v1/2023.acl-long.243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6032" y="1819656"/>
            <a:ext cx="5623560" cy="429768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9184" y="1819656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1819656"/>
            <a:ext cx="4965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Chen et al., "Evaluating Large Language Models Trained on Code," [HumanEval], arXiv preprint arXiv:2107.03374, Jul. 2021.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6032" y="2286000"/>
            <a:ext cx="5623560" cy="429768"/>
          </a:xfrm>
          <a:prstGeom prst="roundRect">
            <a:avLst>
              <a:gd name="adj" fmla="val 8511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9184" y="2286000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2286000"/>
            <a:ext cx="4965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Austin et al., "Program Synthesis with Large Language Models," [MBPP Dataset], arXiv preprint arXiv:2108.07732, Aug. 2021.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56032" y="2752344"/>
            <a:ext cx="5623560" cy="429768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29184" y="2752344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" y="2752344"/>
            <a:ext cx="4965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E. Jiménez et al., "SWE-bench: Can Language Models Resolve Real-World GitHub Issues?" in Proc. ICLR, 2024. arXiv:2310.06770.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56032" y="3218688"/>
            <a:ext cx="5623560" cy="429768"/>
          </a:xfrm>
          <a:prstGeom prst="roundRect">
            <a:avLst>
              <a:gd name="adj" fmla="val 8511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29184" y="3218688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2960" y="3218688"/>
            <a:ext cx="4965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Contributors, "LangChain v0.3," MIT License, 2024. [Online]. Available: https://github.com/langchain-ai/langchain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56032" y="3685032"/>
            <a:ext cx="5623560" cy="429768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29184" y="3685032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22960" y="3685032"/>
            <a:ext cx="4965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Research, "AutoGen: Enabling Next-Gen LLM Applications via Multi-Agent Conversation," MIT License, 2024. arXiv:2308.08155.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56032" y="4151376"/>
            <a:ext cx="5623560" cy="429768"/>
          </a:xfrm>
          <a:prstGeom prst="roundRect">
            <a:avLst>
              <a:gd name="adj" fmla="val 8511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29184" y="4151376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22960" y="4151376"/>
            <a:ext cx="4965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Team, "Qwen2.5-Coder Technical Report," Alibaba Group, arXiv preprint arXiv:2409.12186, Sep. 2024.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56032" y="4617720"/>
            <a:ext cx="5623560" cy="429768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29184" y="4617720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22960" y="4617720"/>
            <a:ext cx="4965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Team, "DeepSeek-Coder V2: Breaking the Barrier of Closed-Source Models in Code Intelligence," arXiv:2406.11931, Jun. 2024.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56032" y="5084064"/>
            <a:ext cx="5623560" cy="429768"/>
          </a:xfrm>
          <a:prstGeom prst="roundRect">
            <a:avLst>
              <a:gd name="adj" fmla="val 8511"/>
            </a:avLst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29184" y="5084064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22960" y="5084064"/>
            <a:ext cx="4965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M. Ritchie and K. Thompson, "The UNIX Time-Sharing System," Bell Syst. Tech. J., vol. 57, no. 6, pp. 1905–1929, Jul.–Aug. 1978.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256032" y="5550408"/>
            <a:ext cx="5623560" cy="429768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29184" y="5550408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22960" y="5550408"/>
            <a:ext cx="4965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S. Miller, K.-P. Yee, and J. Shapiro, "Capability Myths Demolished," Hewlett-Packard Labs, Tech. Rep. SRL2003-02, 2003.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007608" y="1353312"/>
            <a:ext cx="5623560" cy="429768"/>
          </a:xfrm>
          <a:prstGeom prst="roundRect">
            <a:avLst>
              <a:gd name="adj" fmla="val 8511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080760" y="1353312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574536" y="1353312"/>
            <a:ext cx="4965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Yao et al., "ReAct: Synergizing Reasoning and Acting in Language Models," in Proc. Int. Conf. Learn. Representations (ICLR), 2023. arXiv:2210.03629.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007608" y="1819656"/>
            <a:ext cx="5623560" cy="429768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080760" y="1819656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574536" y="1819656"/>
            <a:ext cx="4965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Schick et al., "Toolformer: Language Models Can Teach Themselves to Use Tools," in Proc. NeurIPS, 2023. arXiv:2302.04761.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007608" y="2286000"/>
            <a:ext cx="5623560" cy="429768"/>
          </a:xfrm>
          <a:prstGeom prst="roundRect">
            <a:avLst>
              <a:gd name="adj" fmla="val 8511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6080760" y="2286000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6574536" y="2286000"/>
            <a:ext cx="4965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Wei et al., "Chain-of-Thought Prompting Elicits Reasoning in Large Language Models," in Proc. NeurIPS, 2022. arXiv:2201.11903.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007608" y="2752344"/>
            <a:ext cx="5623560" cy="429768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6080760" y="2752344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6574536" y="2752344"/>
            <a:ext cx="4965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S. Park et al., "Generative Agents: Interactive Simulacra of Human Behavior," in Proc. ACM UIST, 2023. arXiv:2304.03442.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007608" y="3218688"/>
            <a:ext cx="5623560" cy="429768"/>
          </a:xfrm>
          <a:prstGeom prst="roundRect">
            <a:avLst>
              <a:gd name="adj" fmla="val 8511"/>
            </a:avLst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6080760" y="3218688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6574536" y="3218688"/>
            <a:ext cx="4965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C. Atkinson and R. M. Shiffrin, "Human Memory: A Proposed System and Its Control Processes," Psychol. Learn. Motivat., vol. 2, pp. 89–195, 1968.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007608" y="3685032"/>
            <a:ext cx="5623560" cy="429768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6080760" y="3685032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6574536" y="3685032"/>
            <a:ext cx="4965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Contributors, "CrewAI: Framework for Orchestrating Role-Playing Autonomous AI Agents," MIT License, 2024. [Online]. Available: https://github.com/joaomdmoura/crewai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6007608" y="4151376"/>
            <a:ext cx="5623560" cy="429768"/>
          </a:xfrm>
          <a:prstGeom prst="roundRect">
            <a:avLst>
              <a:gd name="adj" fmla="val 8511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6080760" y="4151376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6574536" y="4151376"/>
            <a:ext cx="4965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Rozière et al., "Code Llama: Open Foundation Models for Code," arXiv preprint arXiv:2308.12950, Aug. 2023.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6007608" y="4617720"/>
            <a:ext cx="5623560" cy="429768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6080760" y="4617720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6574536" y="4617720"/>
            <a:ext cx="4965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Li et al., "CAMEL: Communicative Agents for Mind Exploration of Large Language Model Society," in Proc. NeurIPS, 2023. arXiv:2303.17760.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6007608" y="5084064"/>
            <a:ext cx="5623560" cy="429768"/>
          </a:xfrm>
          <a:prstGeom prst="roundRect">
            <a:avLst>
              <a:gd name="adj" fmla="val 8511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6080760" y="5084064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</a:t>
            </a:r>
            <a:endParaRPr lang="en-US" sz="1100" dirty="0"/>
          </a:p>
        </p:txBody>
      </p:sp>
      <p:sp>
        <p:nvSpPr>
          <p:cNvPr id="62" name="Text 59"/>
          <p:cNvSpPr/>
          <p:nvPr/>
        </p:nvSpPr>
        <p:spPr>
          <a:xfrm>
            <a:off x="6574536" y="5084064"/>
            <a:ext cx="4965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Wang et al., "A Survey on Large Language Model-Based Autonomous Agents," Frontiers Comput. Sci., 2024. arXiv:2308.11432.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6007608" y="5550408"/>
            <a:ext cx="5623560" cy="429768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6080760" y="5550408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[20]</a:t>
            </a:r>
            <a:endParaRPr lang="en-US" sz="1100" dirty="0"/>
          </a:p>
        </p:txBody>
      </p:sp>
      <p:sp>
        <p:nvSpPr>
          <p:cNvPr id="65" name="Text 62"/>
          <p:cNvSpPr/>
          <p:nvPr/>
        </p:nvSpPr>
        <p:spPr>
          <a:xfrm>
            <a:off x="6574536" y="5550408"/>
            <a:ext cx="4965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"GPT-4 Technical Report," arXiv preprint arXiv:2303.08774, Mar. 2023.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256032" y="6089904"/>
            <a:ext cx="11676888" cy="640080"/>
          </a:xfrm>
          <a:prstGeom prst="roundRect">
            <a:avLst>
              <a:gd name="adj" fmla="val 11429"/>
            </a:avLst>
          </a:prstGeom>
          <a:solidFill>
            <a:srgbClr val="EDE9FE"/>
          </a:solidFill>
          <a:ln w="1524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256032" y="6089904"/>
            <a:ext cx="54864" cy="6400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402336" y="608990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Publications  · </a:t>
            </a:r>
            <a:endParaRPr lang="en-US" sz="1100" dirty="0"/>
          </a:p>
        </p:txBody>
      </p:sp>
      <p:sp>
        <p:nvSpPr>
          <p:cNvPr id="69" name="Text 66"/>
          <p:cNvSpPr/>
          <p:nvPr/>
        </p:nvSpPr>
        <p:spPr>
          <a:xfrm>
            <a:off x="2514600" y="6089904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Shah, D. &amp; et al. "ECL-WDM: Ensemble Continual Learning," CSNT 2026 · DOI: 10.1109/CSNT69054.2026.11502115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Shah, D. &amp; et al. "Road Hazard Detection via Multi-Modal Perception," CICN 2025 · DOI: 10.1109/CICN67655.2025.11368330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3949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" y="109728"/>
            <a:ext cx="566928" cy="7498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371600"/>
            <a:ext cx="3383280" cy="142646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56032" y="3063240"/>
            <a:ext cx="11676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2"/>
          <p:cNvSpPr/>
          <p:nvPr/>
        </p:nvSpPr>
        <p:spPr>
          <a:xfrm>
            <a:off x="1371600" y="4160520"/>
            <a:ext cx="9445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νόησις  ·  νους  ·  μνήμη  —  Intellection · Mind · Memory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256032" y="4663440"/>
            <a:ext cx="11676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6B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3318</Words>
  <Application>Microsoft Office PowerPoint</Application>
  <PresentationFormat>Widescreen</PresentationFormat>
  <Paragraphs>468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Bahnschrift SemiBold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Dhruv Shah</cp:lastModifiedBy>
  <cp:revision>4</cp:revision>
  <dcterms:created xsi:type="dcterms:W3CDTF">2026-08-25T12:58:41Z</dcterms:created>
  <dcterms:modified xsi:type="dcterms:W3CDTF">2026-08-26T02:55:02Z</dcterms:modified>
</cp:coreProperties>
</file>